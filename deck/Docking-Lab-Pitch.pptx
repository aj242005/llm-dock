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on the button: this is a working system, not a concept video.</a:t>
            </a:r>
          </a:p>
          <a:p>
            <a:r>
              <a:t>Say in one breath: an LLM, a learned policy and an independent safety channel fly a 500 kg chaser from 100 metres to a centimetre-class capture — and every claim in this deck traces to a file.</a:t>
            </a:r>
          </a:p>
          <a:p>
            <a:r>
              <a:t>Numbers on screen: 1.945 cm, 0.004 m/s, zero fallbacks — proofs/precision-vertex-docking/checks.json.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pain in plain terms: proximity operations carry the mission risk, every new target restarts the control-law and verification campaign, and autonomy that cannot explain itself never gets certified.</a:t>
            </a:r>
          </a:p>
          <a:p>
            <a:r>
              <a:t>The 0.005 m/s figure is this simulator's shared capture gate (src/app/simulation/safety.py) — present it as the class of tolerance, not as an ISS requirement.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'why now': the pieces are individually unremarkable, the composition is new.</a:t>
            </a:r>
          </a:p>
          <a:p>
            <a:r>
              <a:t>Each card cites its artifact — the tool loop in src/app/llm/tools.py, PPO evidence in proofs/kaggle-final-seed-42/, exports in proofs/precision-vertex-docking/.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left to right: plan, advise, fly — then the band underneath.</a:t>
            </a:r>
          </a:p>
          <a:p>
            <a:r>
              <a:t>The architectural claim for a technical reviewer: deterministic physics and safety sit outside the planner, so provider latency or failure cannot corrupt the state.</a:t>
            </a:r>
          </a:p>
          <a:p>
            <a:r>
              <a:t>Sources: src/app/simulation/runner.py, dynamics.py, safety.py, src/app/llm/reasoning_agent.py, tools.py.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line for engineers: only lanes 01 and 02 can be wrong, and neither can actuate anything directly.</a:t>
            </a:r>
          </a:p>
          <a:p>
            <a:r>
              <a:t>Provider failure produces labelled deterministic guidance, never silence.</a:t>
            </a:r>
          </a:p>
          <a:p>
            <a:r>
              <a:t>Numbers: 50 N, 20 N·m, 0.1 m/s², 500 kg; plan ages 24.4 s and 22.6 s from proofs/precision-vertex-docking/decisions.json.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Slow down here. This slide separates the project from a demo video: quoted decisions with plan age, an applied flag and the rejected alternative, all in proofs/precision-vertex-docking/decisions.json.</a:t>
            </a:r>
          </a:p>
          <a:p>
            <a:r>
              <a:t>The model overrode its learned advisor using the configured envelope — judgment, not improvisation.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gate is code, not convention: safety.py evaluates all four checks plus stability and corridor entry.</a:t>
            </a:r>
          </a:p>
          <a:p>
            <a:r>
              <a:t>The announced capture only fires after server confirmation — the UI cannot claim eligibility during abort or sensor dropout.</a:t>
            </a:r>
          </a:p>
          <a:p>
            <a:r>
              <a:t>Imagery is a real capture from this project's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the constraint, not the number: the chaser used its full configured envelope (2 m/s, 50 N) and still arrived at 0.004 m/s.</a:t>
            </a:r>
          </a:p>
          <a:p>
            <a:r>
              <a:t>Chart from proofs/precision-vertex-docking/approach-curves.png.</a:t>
            </a:r>
          </a:p>
          <a:p>
            <a:r>
              <a:t>Say the scope out loud: one accelerated live demonstration at a 2 cm simulated gate, not a hardware accuracy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scrupulous; a technical reviewer will attack this slide.</a:t>
            </a:r>
          </a:p>
          <a:p>
            <a:r>
              <a:t>Say plainly: the archived policy was trained and evaluated at a 1.25 m gate; the notebook packages the 2 cm environment for fresh training.</a:t>
            </a:r>
          </a:p>
          <a:p>
            <a:r>
              <a:t>The value on the table is pipeline reproducibility — expert, cloning, PPO, matched normalisers, held-out seeds.</a:t>
            </a:r>
          </a:p>
          <a:p>
            <a:r>
              <a:t>Sources: proofs/kaggle-final-seed-42/ and -137/.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 a reviewer the folder, not a slide. Offer the live dashboard and the export of any session they want to poke at.</a:t>
            </a:r>
          </a:p>
          <a:p>
            <a:r>
              <a:t>If asked what the hashes prove: file integrity, and that the numbers were not edited after the run. They do not certify the simulator.</a:t>
            </a:r>
          </a:p>
          <a:p>
            <a:r>
              <a:t>Verification entry points: python -m pytest; python -m ruff check src tests scripts; python scripts/verify_proofs.py.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answers 'how do you know it is safe to even run?'. The audit is the strongest artifact in the repository: every finding names its correction and its file.</a:t>
            </a:r>
          </a:p>
          <a:p>
            <a:r>
              <a:t>Say the caveat yourself: simulation-time envelope contract, not flight certification.</a:t>
            </a:r>
          </a:p>
          <a:p>
            <a:r>
              <a:t>Full table: proofs/code-audit/README.md.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not skip this slide. For any technical audience it is the credibility purchase: you are disclosing the same limits their reviewers would find.</a:t>
            </a:r>
          </a:p>
          <a:p>
            <a:r>
              <a:t>It also points the conversation at what a partner can change — their propagator, their sensor model, their latency budget.</a:t>
            </a:r>
          </a:p>
          <a:p>
            <a:r>
              <a:t>Sources: proofs/README.md, proofs/code-audit/README.md, README.md.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commercial slide. Do not sell a black box; sell the interface and the evidence format.</a:t>
            </a:r>
          </a:p>
          <a:p>
            <a:r>
              <a:t>The ask follows naturally: one vehicle model and one mission profile, and we re-run the reference scenarios on your dynamics.</a:t>
            </a:r>
          </a:p>
          <a:p>
            <a:r>
              <a:t>Interfaces: src/app/llm/tools.py, src/app/simulation/safety.py, src/app/api/routes.py.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Phases are proposals, not commitments — say so explicitly and let the partner choose the order. Most aerospace teams start with phase 02, because latency is their real worry.</a:t>
            </a:r>
          </a:p>
          <a:p>
            <a:r>
              <a:t>If asked about timeline or cost: that is a scoping conversation, not a number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Adapt the closing sentence to the room before presenting: name the specific team and vehicle you want to fly.</a:t>
            </a:r>
          </a:p>
          <a:p>
            <a:r>
              <a:t>If they push on maturity, concede it and redirect: the loop runs end to end today with an audit trail; what changes with them is the vehicle model and the mission profile.</a:t>
            </a:r>
          </a:p>
          <a:p>
            <a:r>
              <a:t>Do not quote a price or a schedule from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by handing over the artifacts, not by summarising: offer the live dashboard, the proofs folder, and the exported session of any run they want to audit.</a:t>
            </a:r>
          </a:p>
          <a:p>
            <a:r>
              <a:t>Replace the placeholder contact line before sending this deck out.</a:t>
            </a:r>
          </a:p>
          <a:p>
            <a:r>
              <a:t>Demo link as published in README.md.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jp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image" Target="../media/image13.jp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image" Target="../media/image15.jp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rt-cover" descr="01-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xt-cover-0"/>
          <p:cNvSpPr txBox="1"/>
          <p:nvPr/>
        </p:nvSpPr>
        <p:spPr>
          <a:xfrm>
            <a:off x="660400" y="482600"/>
            <a:ext cx="762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1" i="0" spc="150">
                <a:solidFill>
                  <a:srgbClr val="1E6F5C"/>
                </a:solidFill>
                <a:latin typeface="IBM Plex Sans"/>
              </a:rPr>
              <a:t>DOCKING LAB · OCTOBER 2026</a:t>
            </a:r>
          </a:p>
        </p:txBody>
      </p:sp>
      <p:sp>
        <p:nvSpPr>
          <p:cNvPr id="4" name="txt-cover-1"/>
          <p:cNvSpPr txBox="1"/>
          <p:nvPr/>
        </p:nvSpPr>
        <p:spPr>
          <a:xfrm>
            <a:off x="6985000" y="482600"/>
            <a:ext cx="45466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850" b="0" i="0" spc="153">
                <a:solidFill>
                  <a:srgbClr val="6E7A6D"/>
                </a:solidFill>
                <a:latin typeface="IBM Plex Sans"/>
              </a:rPr>
              <a:t>DOCKING LAB · INVESTOR BRIEF</a:t>
            </a:r>
          </a:p>
        </p:txBody>
      </p:sp>
      <p:sp>
        <p:nvSpPr>
          <p:cNvPr id="5" name="txt-cover-2"/>
          <p:cNvSpPr txBox="1"/>
          <p:nvPr/>
        </p:nvSpPr>
        <p:spPr>
          <a:xfrm>
            <a:off x="660400" y="6375400"/>
            <a:ext cx="952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50" b="0" i="0" spc="17">
                <a:solidFill>
                  <a:srgbClr val="6E7A6D"/>
                </a:solidFill>
                <a:latin typeface="IBM Plex Sans"/>
              </a:rPr>
              <a:t>cover capture · this project's own dashboard, 100 m approach</a:t>
            </a:r>
          </a:p>
        </p:txBody>
      </p:sp>
      <p:sp>
        <p:nvSpPr>
          <p:cNvPr id="6" name="txt-cover-3"/>
          <p:cNvSpPr txBox="1"/>
          <p:nvPr/>
        </p:nvSpPr>
        <p:spPr>
          <a:xfrm>
            <a:off x="9626600" y="6337300"/>
            <a:ext cx="1905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850" b="0" i="0" spc="153">
                <a:solidFill>
                  <a:srgbClr val="6E7A6D"/>
                </a:solidFill>
                <a:latin typeface="IBM Plex Sans"/>
              </a:rPr>
              <a:t>01</a:t>
            </a:r>
          </a:p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850" b="0" i="0" spc="153">
                <a:solidFill>
                  <a:srgbClr val="6E7A6D"/>
                </a:solidFill>
                <a:latin typeface="IBM Plex Sans"/>
              </a:rPr>
              <a:t>  /  16</a:t>
            </a:r>
          </a:p>
        </p:txBody>
      </p:sp>
      <p:sp>
        <p:nvSpPr>
          <p:cNvPr id="7" name="txt-cover-4"/>
          <p:cNvSpPr txBox="1"/>
          <p:nvPr/>
        </p:nvSpPr>
        <p:spPr>
          <a:xfrm>
            <a:off x="660400" y="1498600"/>
            <a:ext cx="5715000" cy="266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4800" b="0" i="0" spc="-106">
                <a:solidFill>
                  <a:srgbClr val="1C241F"/>
                </a:solidFill>
                <a:latin typeface="IBM Plex Serif"/>
              </a:rPr>
              <a:t>A spacecraft that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4800" b="0" i="0" spc="-106">
                <a:solidFill>
                  <a:srgbClr val="1C241F"/>
                </a:solidFill>
                <a:latin typeface="IBM Plex Serif"/>
              </a:rPr>
              <a:t>docks itself.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4800" b="0" i="0" spc="-106">
                <a:solidFill>
                  <a:srgbClr val="1C241F"/>
                </a:solidFill>
                <a:latin typeface="IBM Plex Serif"/>
              </a:rPr>
              <a:t>And shows its work.</a:t>
            </a:r>
          </a:p>
        </p:txBody>
      </p:sp>
      <p:sp>
        <p:nvSpPr>
          <p:cNvPr id="8" name="txt-cover-5"/>
          <p:cNvSpPr txBox="1"/>
          <p:nvPr/>
        </p:nvSpPr>
        <p:spPr>
          <a:xfrm>
            <a:off x="660400" y="4241800"/>
            <a:ext cx="5461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0" i="1" spc="-8">
                <a:solidFill>
                  <a:srgbClr val="3D473E"/>
                </a:solidFill>
                <a:latin typeface="IBM Plex Serif"/>
              </a:rPr>
              <a:t>An LLM plans the manoeuvre, a learned policy advises it, and an independent safety channel gates every command — over real orbital dynamics, in one dashboard.</a:t>
            </a:r>
          </a:p>
        </p:txBody>
      </p:sp>
      <p:sp>
        <p:nvSpPr>
          <p:cNvPr id="9" name="txt-cover-6"/>
          <p:cNvSpPr txBox="1"/>
          <p:nvPr/>
        </p:nvSpPr>
        <p:spPr>
          <a:xfrm>
            <a:off x="660400" y="54102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 i="0" spc="133">
                <a:solidFill>
                  <a:srgbClr val="1E6F5C"/>
                </a:solidFill>
                <a:latin typeface="IBM Plex Sans"/>
              </a:rPr>
              <a:t>THE LAST RECORDED RUN</a:t>
            </a:r>
          </a:p>
        </p:txBody>
      </p:sp>
      <p:sp>
        <p:nvSpPr>
          <p:cNvPr id="10" name="txt-cover-7"/>
          <p:cNvSpPr txBox="1"/>
          <p:nvPr/>
        </p:nvSpPr>
        <p:spPr>
          <a:xfrm>
            <a:off x="660400" y="5651500"/>
            <a:ext cx="1905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 i="0" spc="-138">
                <a:solidFill>
                  <a:srgbClr val="1E6F5C"/>
                </a:solidFill>
                <a:latin typeface="IBM Plex Sans"/>
              </a:rPr>
              <a:t>1.945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 spc="-15">
                <a:solidFill>
                  <a:srgbClr val="3D473E"/>
                </a:solidFill>
                <a:latin typeface="IBM Plex Sans"/>
              </a:rPr>
              <a:t> cm</a:t>
            </a:r>
          </a:p>
        </p:txBody>
      </p:sp>
      <p:sp>
        <p:nvSpPr>
          <p:cNvPr id="11" name="txt-cover-8"/>
          <p:cNvSpPr txBox="1"/>
          <p:nvPr/>
        </p:nvSpPr>
        <p:spPr>
          <a:xfrm>
            <a:off x="660400" y="6121400"/>
            <a:ext cx="1905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50" b="0" i="0" spc="17">
                <a:solidFill>
                  <a:srgbClr val="6E7A6D"/>
                </a:solidFill>
                <a:latin typeface="IBM Plex Sans"/>
              </a:rPr>
              <a:t>final port separation</a:t>
            </a:r>
          </a:p>
        </p:txBody>
      </p:sp>
      <p:sp>
        <p:nvSpPr>
          <p:cNvPr id="12" name="txt-cover-9"/>
          <p:cNvSpPr txBox="1"/>
          <p:nvPr/>
        </p:nvSpPr>
        <p:spPr>
          <a:xfrm>
            <a:off x="2692400" y="5651500"/>
            <a:ext cx="2032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 i="0" spc="-138">
                <a:solidFill>
                  <a:srgbClr val="D8512F"/>
                </a:solidFill>
                <a:latin typeface="IBM Plex Sans"/>
              </a:rPr>
              <a:t>0.004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 spc="-15">
                <a:solidFill>
                  <a:srgbClr val="3D473E"/>
                </a:solidFill>
                <a:latin typeface="IBM Plex Sans"/>
              </a:rPr>
              <a:t> m/s</a:t>
            </a:r>
          </a:p>
        </p:txBody>
      </p:sp>
      <p:sp>
        <p:nvSpPr>
          <p:cNvPr id="13" name="txt-cover-10"/>
          <p:cNvSpPr txBox="1"/>
          <p:nvPr/>
        </p:nvSpPr>
        <p:spPr>
          <a:xfrm>
            <a:off x="2692400" y="6121400"/>
            <a:ext cx="2032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50" b="0" i="0" spc="17">
                <a:solidFill>
                  <a:srgbClr val="6E7A6D"/>
                </a:solidFill>
                <a:latin typeface="IBM Plex Sans"/>
              </a:rPr>
              <a:t>relative speed at capture</a:t>
            </a:r>
          </a:p>
        </p:txBody>
      </p:sp>
      <p:sp>
        <p:nvSpPr>
          <p:cNvPr id="14" name="txt-cover-11"/>
          <p:cNvSpPr txBox="1"/>
          <p:nvPr/>
        </p:nvSpPr>
        <p:spPr>
          <a:xfrm>
            <a:off x="4940300" y="5651500"/>
            <a:ext cx="16510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 i="0" spc="-138">
                <a:solidFill>
                  <a:srgbClr val="1C241F"/>
                </a:solidFill>
                <a:latin typeface="IBM Plex Sans"/>
              </a:rPr>
              <a:t>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 spc="-15">
                <a:solidFill>
                  <a:srgbClr val="3D473E"/>
                </a:solidFill>
                <a:latin typeface="IBM Plex Sans"/>
              </a:rPr>
              <a:t> fallbacks</a:t>
            </a:r>
          </a:p>
        </p:txBody>
      </p:sp>
      <p:sp>
        <p:nvSpPr>
          <p:cNvPr id="15" name="txt-cover-12"/>
          <p:cNvSpPr txBox="1"/>
          <p:nvPr/>
        </p:nvSpPr>
        <p:spPr>
          <a:xfrm>
            <a:off x="4940300" y="6121400"/>
            <a:ext cx="1651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50" b="0" i="0" spc="17">
                <a:solidFill>
                  <a:srgbClr val="6E7A6D"/>
                </a:solidFill>
                <a:latin typeface="IBM Plex Sans"/>
              </a:rPr>
              <a:t>two provider decisions, both applied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rt-problem" descr="02-proble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late-problem-0"/>
          <p:cNvSpPr/>
          <p:nvPr/>
        </p:nvSpPr>
        <p:spPr>
          <a:xfrm>
            <a:off x="7112000" y="1333500"/>
            <a:ext cx="4445000" cy="1473200"/>
          </a:xfrm>
          <a:prstGeom prst="roundRect">
            <a:avLst>
              <a:gd name="adj" fmla="val 8620"/>
            </a:avLst>
          </a:prstGeom>
          <a:solidFill>
            <a:srgbClr val="F3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plate-problem-1"/>
          <p:cNvSpPr/>
          <p:nvPr/>
        </p:nvSpPr>
        <p:spPr>
          <a:xfrm>
            <a:off x="7112000" y="2959100"/>
            <a:ext cx="4445000" cy="1473200"/>
          </a:xfrm>
          <a:prstGeom prst="roundRect">
            <a:avLst>
              <a:gd name="adj" fmla="val 8620"/>
            </a:avLst>
          </a:prstGeom>
          <a:solidFill>
            <a:srgbClr val="F3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plate-problem-2"/>
          <p:cNvSpPr/>
          <p:nvPr/>
        </p:nvSpPr>
        <p:spPr>
          <a:xfrm>
            <a:off x="7112000" y="4584700"/>
            <a:ext cx="4445000" cy="1473200"/>
          </a:xfrm>
          <a:prstGeom prst="roundRect">
            <a:avLst>
              <a:gd name="adj" fmla="val 8620"/>
            </a:avLst>
          </a:prstGeom>
          <a:solidFill>
            <a:srgbClr val="F3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xt-problem-0"/>
          <p:cNvSpPr txBox="1"/>
          <p:nvPr/>
        </p:nvSpPr>
        <p:spPr>
          <a:xfrm>
            <a:off x="660400" y="482600"/>
            <a:ext cx="762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1" i="0" spc="150">
                <a:solidFill>
                  <a:srgbClr val="1E6F5C"/>
                </a:solidFill>
                <a:latin typeface="IBM Plex Sans"/>
              </a:rPr>
              <a:t>THE PROBLEM</a:t>
            </a:r>
          </a:p>
        </p:txBody>
      </p:sp>
      <p:sp>
        <p:nvSpPr>
          <p:cNvPr id="7" name="txt-problem-1"/>
          <p:cNvSpPr txBox="1"/>
          <p:nvPr/>
        </p:nvSpPr>
        <p:spPr>
          <a:xfrm>
            <a:off x="6985000" y="482600"/>
            <a:ext cx="45466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850" b="0" i="0" spc="153">
                <a:solidFill>
                  <a:srgbClr val="6E7A6D"/>
                </a:solidFill>
                <a:latin typeface="IBM Plex Sans"/>
              </a:rPr>
              <a:t>DOCKING LAB · INVESTOR BRIEF</a:t>
            </a:r>
          </a:p>
        </p:txBody>
      </p:sp>
      <p:sp>
        <p:nvSpPr>
          <p:cNvPr id="8" name="txt-problem-2"/>
          <p:cNvSpPr txBox="1"/>
          <p:nvPr/>
        </p:nvSpPr>
        <p:spPr>
          <a:xfrm>
            <a:off x="660400" y="6375400"/>
            <a:ext cx="952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50" b="0" i="0" spc="17">
                <a:solidFill>
                  <a:srgbClr val="6E7A6D"/>
                </a:solidFill>
                <a:latin typeface="IBM Plex Sans"/>
              </a:rPr>
              <a:t>gate defaults · src/app/simulation/safety.py</a:t>
            </a:r>
          </a:p>
        </p:txBody>
      </p:sp>
      <p:sp>
        <p:nvSpPr>
          <p:cNvPr id="9" name="txt-problem-3"/>
          <p:cNvSpPr txBox="1"/>
          <p:nvPr/>
        </p:nvSpPr>
        <p:spPr>
          <a:xfrm>
            <a:off x="9626600" y="6337300"/>
            <a:ext cx="1905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850" b="0" i="0" spc="153">
                <a:solidFill>
                  <a:srgbClr val="6E7A6D"/>
                </a:solidFill>
                <a:latin typeface="IBM Plex Sans"/>
              </a:rPr>
              <a:t>02</a:t>
            </a:r>
          </a:p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850" b="0" i="0" spc="153">
                <a:solidFill>
                  <a:srgbClr val="6E7A6D"/>
                </a:solidFill>
                <a:latin typeface="IBM Plex Sans"/>
              </a:rPr>
              <a:t>  /  16</a:t>
            </a:r>
          </a:p>
        </p:txBody>
      </p:sp>
      <p:sp>
        <p:nvSpPr>
          <p:cNvPr id="10" name="txt-problem-4"/>
          <p:cNvSpPr txBox="1"/>
          <p:nvPr/>
        </p:nvSpPr>
        <p:spPr>
          <a:xfrm>
            <a:off x="660400" y="1358900"/>
            <a:ext cx="5969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4200" b="0" i="0" spc="-76">
                <a:solidFill>
                  <a:srgbClr val="1C241F"/>
                </a:solidFill>
                <a:latin typeface="IBM Plex Serif"/>
              </a:rPr>
              <a:t>The final 100 metres</a:t>
            </a:r>
          </a:p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4200" b="0" i="0" spc="-76">
                <a:solidFill>
                  <a:srgbClr val="1C241F"/>
                </a:solidFill>
                <a:latin typeface="IBM Plex Serif"/>
              </a:rPr>
              <a:t>decide the mission.</a:t>
            </a:r>
          </a:p>
        </p:txBody>
      </p:sp>
      <p:sp>
        <p:nvSpPr>
          <p:cNvPr id="11" name="txt-problem-5"/>
          <p:cNvSpPr txBox="1"/>
          <p:nvPr/>
        </p:nvSpPr>
        <p:spPr>
          <a:xfrm>
            <a:off x="660400" y="2730500"/>
            <a:ext cx="5588000" cy="1079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  <a:spcAft>
                <a:spcPts val="0"/>
              </a:spcAft>
            </a:pPr>
            <a:r>
              <a:rPr sz="1450" b="0" i="0" spc="-9">
                <a:solidFill>
                  <a:srgbClr val="3D473E"/>
                </a:solidFill>
                <a:latin typeface="IBM Plex Sans"/>
              </a:rPr>
              <a:t>Rendezvous is unforgiving: close on a moving target, null your motion down to centimetres, and touch down softly enough to latch.</a:t>
            </a:r>
          </a:p>
        </p:txBody>
      </p:sp>
      <p:sp>
        <p:nvSpPr>
          <p:cNvPr id="12" name="txt-problem-6"/>
          <p:cNvSpPr txBox="1"/>
          <p:nvPr/>
        </p:nvSpPr>
        <p:spPr>
          <a:xfrm>
            <a:off x="660400" y="4064000"/>
            <a:ext cx="2540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 i="0" spc="-138">
                <a:solidFill>
                  <a:srgbClr val="D8512F"/>
                </a:solidFill>
                <a:latin typeface="IBM Plex Sans"/>
              </a:rPr>
              <a:t>0.005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 spc="-15">
                <a:solidFill>
                  <a:srgbClr val="3D473E"/>
                </a:solidFill>
                <a:latin typeface="IBM Plex Sans"/>
              </a:rPr>
              <a:t> m/s</a:t>
            </a:r>
          </a:p>
        </p:txBody>
      </p:sp>
      <p:sp>
        <p:nvSpPr>
          <p:cNvPr id="13" name="txt-problem-7"/>
          <p:cNvSpPr txBox="1"/>
          <p:nvPr/>
        </p:nvSpPr>
        <p:spPr>
          <a:xfrm>
            <a:off x="660400" y="4711700"/>
            <a:ext cx="4064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3D473E"/>
                </a:solidFill>
                <a:latin typeface="IBM Plex Sans"/>
              </a:rPr>
              <a:t>the permitted capture speed at the shared gate — every method, human or learned, is judged against the same number.</a:t>
            </a:r>
          </a:p>
        </p:txBody>
      </p:sp>
      <p:sp>
        <p:nvSpPr>
          <p:cNvPr id="14" name="txt-problem-8"/>
          <p:cNvSpPr txBox="1"/>
          <p:nvPr/>
        </p:nvSpPr>
        <p:spPr>
          <a:xfrm>
            <a:off x="7366000" y="1562100"/>
            <a:ext cx="3937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550" b="1" i="0" spc="-16">
                <a:solidFill>
                  <a:srgbClr val="1C241F"/>
                </a:solidFill>
                <a:latin typeface="IBM Plex Serif"/>
              </a:rPr>
              <a:t>One controller per target</a:t>
            </a:r>
          </a:p>
        </p:txBody>
      </p:sp>
      <p:sp>
        <p:nvSpPr>
          <p:cNvPr id="15" name="txt-problem-9"/>
          <p:cNvSpPr txBox="1"/>
          <p:nvPr/>
        </p:nvSpPr>
        <p:spPr>
          <a:xfrm>
            <a:off x="7366000" y="1892300"/>
            <a:ext cx="3937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3D473E"/>
                </a:solidFill>
                <a:latin typeface="IBM Plex Sans"/>
              </a:rPr>
              <a:t>A new vehicle or a new port means another hand-tuned control law and another test campaign.</a:t>
            </a:r>
          </a:p>
        </p:txBody>
      </p:sp>
      <p:sp>
        <p:nvSpPr>
          <p:cNvPr id="16" name="txt-problem-10"/>
          <p:cNvSpPr txBox="1"/>
          <p:nvPr/>
        </p:nvSpPr>
        <p:spPr>
          <a:xfrm>
            <a:off x="7366000" y="3187700"/>
            <a:ext cx="3937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550" b="1" i="0" spc="-16">
                <a:solidFill>
                  <a:srgbClr val="1C241F"/>
                </a:solidFill>
                <a:latin typeface="IBM Plex Serif"/>
              </a:rPr>
              <a:t>Rehearsal is scarce</a:t>
            </a:r>
          </a:p>
        </p:txBody>
      </p:sp>
      <p:sp>
        <p:nvSpPr>
          <p:cNvPr id="17" name="txt-problem-11"/>
          <p:cNvSpPr txBox="1"/>
          <p:nvPr/>
        </p:nvSpPr>
        <p:spPr>
          <a:xfrm>
            <a:off x="7366000" y="3517900"/>
            <a:ext cx="3937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3D473E"/>
                </a:solidFill>
                <a:latin typeface="IBM Plex Sans"/>
              </a:rPr>
              <a:t>On-orbit proximity rehearsal is expensive and rare; ground rigs cannot reproduce contact dynamics or sensor dropouts.</a:t>
            </a:r>
          </a:p>
        </p:txBody>
      </p:sp>
      <p:sp>
        <p:nvSpPr>
          <p:cNvPr id="18" name="txt-problem-12"/>
          <p:cNvSpPr txBox="1"/>
          <p:nvPr/>
        </p:nvSpPr>
        <p:spPr>
          <a:xfrm>
            <a:off x="7366000" y="4813300"/>
            <a:ext cx="3937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550" b="1" i="0" spc="-16">
                <a:solidFill>
                  <a:srgbClr val="1C241F"/>
                </a:solidFill>
                <a:latin typeface="IBM Plex Serif"/>
              </a:rPr>
              <a:t>Autonomy nobody can question</a:t>
            </a:r>
          </a:p>
        </p:txBody>
      </p:sp>
      <p:sp>
        <p:nvSpPr>
          <p:cNvPr id="19" name="txt-problem-13"/>
          <p:cNvSpPr txBox="1"/>
          <p:nvPr/>
        </p:nvSpPr>
        <p:spPr>
          <a:xfrm>
            <a:off x="7366000" y="5143500"/>
            <a:ext cx="3937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3D473E"/>
                </a:solidFill>
                <a:latin typeface="IBM Plex Sans"/>
              </a:rPr>
              <a:t>A planner a reviewer cannot interrogate cannot be signed off — the capability stalls at the demo stage.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rt-why-now" descr="03-why-no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late-why-now-0"/>
          <p:cNvSpPr/>
          <p:nvPr/>
        </p:nvSpPr>
        <p:spPr>
          <a:xfrm>
            <a:off x="660400" y="2984500"/>
            <a:ext cx="3454400" cy="3175000"/>
          </a:xfrm>
          <a:prstGeom prst="roundRect">
            <a:avLst>
              <a:gd name="adj" fmla="val 5200"/>
            </a:avLst>
          </a:prstGeom>
          <a:solidFill>
            <a:srgbClr val="1E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plate-why-now-1"/>
          <p:cNvSpPr/>
          <p:nvPr/>
        </p:nvSpPr>
        <p:spPr>
          <a:xfrm>
            <a:off x="4368800" y="2984500"/>
            <a:ext cx="3454400" cy="3175000"/>
          </a:xfrm>
          <a:prstGeom prst="roundRect">
            <a:avLst>
              <a:gd name="adj" fmla="val 5200"/>
            </a:avLst>
          </a:prstGeom>
          <a:solidFill>
            <a:srgbClr val="E29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plate-why-now-2"/>
          <p:cNvSpPr/>
          <p:nvPr/>
        </p:nvSpPr>
        <p:spPr>
          <a:xfrm>
            <a:off x="8077200" y="2984500"/>
            <a:ext cx="3454400" cy="3175000"/>
          </a:xfrm>
          <a:prstGeom prst="roundRect">
            <a:avLst>
              <a:gd name="adj" fmla="val 5200"/>
            </a:avLst>
          </a:prstGeom>
          <a:solidFill>
            <a:srgbClr val="D851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xt-why-now-0"/>
          <p:cNvSpPr txBox="1"/>
          <p:nvPr/>
        </p:nvSpPr>
        <p:spPr>
          <a:xfrm>
            <a:off x="660400" y="482600"/>
            <a:ext cx="762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1" i="0" spc="150">
                <a:solidFill>
                  <a:srgbClr val="1E6F5C"/>
                </a:solidFill>
                <a:latin typeface="IBM Plex Sans"/>
              </a:rPr>
              <a:t>WHY NOW</a:t>
            </a:r>
          </a:p>
        </p:txBody>
      </p:sp>
      <p:sp>
        <p:nvSpPr>
          <p:cNvPr id="7" name="txt-why-now-1"/>
          <p:cNvSpPr txBox="1"/>
          <p:nvPr/>
        </p:nvSpPr>
        <p:spPr>
          <a:xfrm>
            <a:off x="6985000" y="482600"/>
            <a:ext cx="45466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850" b="0" i="0" spc="153">
                <a:solidFill>
                  <a:srgbClr val="6E7A6D"/>
                </a:solidFill>
                <a:latin typeface="IBM Plex Sans"/>
              </a:rPr>
              <a:t>DOCKING LAB · INVESTOR BRIEF</a:t>
            </a:r>
          </a:p>
        </p:txBody>
      </p:sp>
      <p:sp>
        <p:nvSpPr>
          <p:cNvPr id="8" name="txt-why-now-2"/>
          <p:cNvSpPr txBox="1"/>
          <p:nvPr/>
        </p:nvSpPr>
        <p:spPr>
          <a:xfrm>
            <a:off x="660400" y="6375400"/>
            <a:ext cx="952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50" b="0" i="0" spc="17">
                <a:solidFill>
                  <a:srgbClr val="6E7A6D"/>
                </a:solidFill>
                <a:latin typeface="IBM Plex Sans"/>
              </a:rPr>
              <a:t>planning · src/app/llm/reasoning_agent.py · src/app/llm/tools.py</a:t>
            </a:r>
          </a:p>
        </p:txBody>
      </p:sp>
      <p:sp>
        <p:nvSpPr>
          <p:cNvPr id="9" name="txt-why-now-3"/>
          <p:cNvSpPr txBox="1"/>
          <p:nvPr/>
        </p:nvSpPr>
        <p:spPr>
          <a:xfrm>
            <a:off x="9626600" y="6337300"/>
            <a:ext cx="1905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850" b="0" i="0" spc="153">
                <a:solidFill>
                  <a:srgbClr val="6E7A6D"/>
                </a:solidFill>
                <a:latin typeface="IBM Plex Sans"/>
              </a:rPr>
              <a:t>03</a:t>
            </a:r>
          </a:p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850" b="0" i="0" spc="153">
                <a:solidFill>
                  <a:srgbClr val="6E7A6D"/>
                </a:solidFill>
                <a:latin typeface="IBM Plex Sans"/>
              </a:rPr>
              <a:t>  /  16</a:t>
            </a:r>
          </a:p>
        </p:txBody>
      </p:sp>
      <p:sp>
        <p:nvSpPr>
          <p:cNvPr id="10" name="txt-why-now-4"/>
          <p:cNvSpPr txBox="1"/>
          <p:nvPr/>
        </p:nvSpPr>
        <p:spPr>
          <a:xfrm>
            <a:off x="660400" y="1358900"/>
            <a:ext cx="10160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4200" b="0" i="0" spc="-76">
                <a:solidFill>
                  <a:srgbClr val="1C241F"/>
                </a:solidFill>
                <a:latin typeface="IBM Plex Serif"/>
              </a:rPr>
              <a:t>Three things got cheap — all at once.</a:t>
            </a:r>
          </a:p>
        </p:txBody>
      </p:sp>
      <p:sp>
        <p:nvSpPr>
          <p:cNvPr id="11" name="txt-why-now-5"/>
          <p:cNvSpPr txBox="1"/>
          <p:nvPr/>
        </p:nvSpPr>
        <p:spPr>
          <a:xfrm>
            <a:off x="660400" y="2209800"/>
            <a:ext cx="7874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0" i="1" spc="-8">
                <a:solidFill>
                  <a:srgbClr val="3D473E"/>
                </a:solidFill>
                <a:latin typeface="IBM Plex Serif"/>
              </a:rPr>
              <a:t>The bottleneck moved. Planning, advice and verification are now implementable in one week of engineering time.</a:t>
            </a:r>
          </a:p>
        </p:txBody>
      </p:sp>
      <p:sp>
        <p:nvSpPr>
          <p:cNvPr id="12" name="txt-why-now-6"/>
          <p:cNvSpPr txBox="1"/>
          <p:nvPr/>
        </p:nvSpPr>
        <p:spPr>
          <a:xfrm>
            <a:off x="914400" y="3251200"/>
            <a:ext cx="2946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700" b="0" i="0" spc="-38">
                <a:solidFill>
                  <a:srgbClr val="F4F1E8"/>
                </a:solidFill>
                <a:latin typeface="IBM Plex Serif"/>
              </a:rPr>
              <a:t>01</a:t>
            </a:r>
          </a:p>
        </p:txBody>
      </p:sp>
      <p:sp>
        <p:nvSpPr>
          <p:cNvPr id="13" name="txt-why-now-7"/>
          <p:cNvSpPr txBox="1"/>
          <p:nvPr/>
        </p:nvSpPr>
        <p:spPr>
          <a:xfrm>
            <a:off x="914400" y="3721100"/>
            <a:ext cx="29464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550" b="1" i="0" spc="-16">
                <a:solidFill>
                  <a:srgbClr val="F4F1E8"/>
                </a:solidFill>
                <a:latin typeface="IBM Plex Serif"/>
              </a:rPr>
              <a:t>Tool-using models</a:t>
            </a:r>
          </a:p>
        </p:txBody>
      </p:sp>
      <p:sp>
        <p:nvSpPr>
          <p:cNvPr id="14" name="txt-why-now-8"/>
          <p:cNvSpPr txBox="1"/>
          <p:nvPr/>
        </p:nvSpPr>
        <p:spPr>
          <a:xfrm>
            <a:off x="914400" y="4114800"/>
            <a:ext cx="29464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9DB0AB"/>
                </a:solidFill>
                <a:latin typeface="IBM Plex Sans"/>
              </a:rPr>
              <a:t>The planner calls measurement tools, previews a manoeuvre before submitting it, and records the alternatives it rejected. Interrogable, not a black box.</a:t>
            </a:r>
          </a:p>
        </p:txBody>
      </p:sp>
      <p:sp>
        <p:nvSpPr>
          <p:cNvPr id="15" name="txt-why-now-9"/>
          <p:cNvSpPr txBox="1"/>
          <p:nvPr/>
        </p:nvSpPr>
        <p:spPr>
          <a:xfrm>
            <a:off x="4622800" y="3721100"/>
            <a:ext cx="29464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550" b="1" i="0" spc="-16">
                <a:solidFill>
                  <a:srgbClr val="F4F1E8"/>
                </a:solidFill>
                <a:latin typeface="IBM Plex Serif"/>
              </a:rPr>
              <a:t>Learned advice on a budget</a:t>
            </a:r>
          </a:p>
        </p:txBody>
      </p:sp>
      <p:sp>
        <p:nvSpPr>
          <p:cNvPr id="16" name="txt-why-now-10"/>
          <p:cNvSpPr txBox="1"/>
          <p:nvPr/>
        </p:nvSpPr>
        <p:spPr>
          <a:xfrm>
            <a:off x="4622800" y="3251200"/>
            <a:ext cx="2946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700" b="0" i="0" spc="-38">
                <a:solidFill>
                  <a:srgbClr val="F4F1E8"/>
                </a:solidFill>
                <a:latin typeface="IBM Plex Serif"/>
              </a:rPr>
              <a:t>02</a:t>
            </a:r>
          </a:p>
        </p:txBody>
      </p:sp>
      <p:sp>
        <p:nvSpPr>
          <p:cNvPr id="17" name="txt-why-now-11"/>
          <p:cNvSpPr txBox="1"/>
          <p:nvPr/>
        </p:nvSpPr>
        <p:spPr>
          <a:xfrm>
            <a:off x="4622800" y="4114800"/>
            <a:ext cx="29464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9DB0AB"/>
                </a:solidFill>
                <a:latin typeface="IBM Plex Sans"/>
              </a:rPr>
              <a:t>An expert-initialized PPO policy trains to 200,704 environment steps on two T4 GPUs and is evaluated on held-out seeds. It advises; it never actuates.</a:t>
            </a:r>
          </a:p>
        </p:txBody>
      </p:sp>
      <p:sp>
        <p:nvSpPr>
          <p:cNvPr id="18" name="txt-why-now-12"/>
          <p:cNvSpPr txBox="1"/>
          <p:nvPr/>
        </p:nvSpPr>
        <p:spPr>
          <a:xfrm>
            <a:off x="8331200" y="3251200"/>
            <a:ext cx="2946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2700" b="0" i="0" spc="-38">
                <a:solidFill>
                  <a:srgbClr val="F4F1E8"/>
                </a:solidFill>
                <a:latin typeface="IBM Plex Serif"/>
              </a:rPr>
              <a:t>03</a:t>
            </a:r>
          </a:p>
        </p:txBody>
      </p:sp>
      <p:sp>
        <p:nvSpPr>
          <p:cNvPr id="19" name="txt-why-now-13"/>
          <p:cNvSpPr txBox="1"/>
          <p:nvPr/>
        </p:nvSpPr>
        <p:spPr>
          <a:xfrm>
            <a:off x="8331200" y="3721100"/>
            <a:ext cx="29464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550" b="1" i="0" spc="-16">
                <a:solidFill>
                  <a:srgbClr val="F4F1E8"/>
                </a:solidFill>
                <a:latin typeface="IBM Plex Serif"/>
              </a:rPr>
              <a:t>Evidence-first engineering</a:t>
            </a:r>
          </a:p>
        </p:txBody>
      </p:sp>
      <p:sp>
        <p:nvSpPr>
          <p:cNvPr id="20" name="txt-why-now-14"/>
          <p:cNvSpPr txBox="1"/>
          <p:nvPr/>
        </p:nvSpPr>
        <p:spPr>
          <a:xfrm>
            <a:off x="8331200" y="4114800"/>
            <a:ext cx="2946400" cy="177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9DB0AB"/>
                </a:solidFill>
                <a:latin typeface="IBM Plex Sans"/>
              </a:rPr>
              <a:t>Every run exports configuration, decisions, tool readings, telemetry and SHA-256 hashes — a reviewer re-derives each number instead of trusting a slide.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rt-system" descr="04-syste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late-system-0"/>
          <p:cNvSpPr/>
          <p:nvPr/>
        </p:nvSpPr>
        <p:spPr>
          <a:xfrm>
            <a:off x="660400" y="5334000"/>
            <a:ext cx="10871200" cy="838200"/>
          </a:xfrm>
          <a:prstGeom prst="roundRect">
            <a:avLst>
              <a:gd name="adj" fmla="val 13636"/>
            </a:avLst>
          </a:prstGeom>
          <a:solidFill>
            <a:srgbClr val="1E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xt-system-0"/>
          <p:cNvSpPr txBox="1"/>
          <p:nvPr/>
        </p:nvSpPr>
        <p:spPr>
          <a:xfrm>
            <a:off x="660400" y="482600"/>
            <a:ext cx="762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1" i="0" spc="150">
                <a:solidFill>
                  <a:srgbClr val="1E6F5C"/>
                </a:solidFill>
                <a:latin typeface="IBM Plex Sans"/>
              </a:rPr>
              <a:t>THE SYSTEM</a:t>
            </a:r>
          </a:p>
        </p:txBody>
      </p:sp>
      <p:sp>
        <p:nvSpPr>
          <p:cNvPr id="5" name="txt-system-1"/>
          <p:cNvSpPr txBox="1"/>
          <p:nvPr/>
        </p:nvSpPr>
        <p:spPr>
          <a:xfrm>
            <a:off x="6985000" y="482600"/>
            <a:ext cx="45466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850" b="0" i="0" spc="153">
                <a:solidFill>
                  <a:srgbClr val="6E7A6D"/>
                </a:solidFill>
                <a:latin typeface="IBM Plex Sans"/>
              </a:rPr>
              <a:t>DOCKING LAB · INVESTOR BRIEF</a:t>
            </a:r>
          </a:p>
        </p:txBody>
      </p:sp>
      <p:sp>
        <p:nvSpPr>
          <p:cNvPr id="6" name="txt-system-2"/>
          <p:cNvSpPr txBox="1"/>
          <p:nvPr/>
        </p:nvSpPr>
        <p:spPr>
          <a:xfrm>
            <a:off x="660400" y="6375400"/>
            <a:ext cx="952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50" b="0" i="0" spc="17">
                <a:solidFill>
                  <a:srgbClr val="6E7A6D"/>
                </a:solidFill>
                <a:latin typeface="IBM Plex Sans"/>
              </a:rPr>
              <a:t>architecture · src/app/simulation/runner.py · src/app/llm/tools.py</a:t>
            </a:r>
          </a:p>
        </p:txBody>
      </p:sp>
      <p:sp>
        <p:nvSpPr>
          <p:cNvPr id="7" name="txt-system-3"/>
          <p:cNvSpPr txBox="1"/>
          <p:nvPr/>
        </p:nvSpPr>
        <p:spPr>
          <a:xfrm>
            <a:off x="9626600" y="6337300"/>
            <a:ext cx="1905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850" b="0" i="0" spc="153">
                <a:solidFill>
                  <a:srgbClr val="6E7A6D"/>
                </a:solidFill>
                <a:latin typeface="IBM Plex Sans"/>
              </a:rPr>
              <a:t>04</a:t>
            </a:r>
          </a:p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850" b="0" i="0" spc="153">
                <a:solidFill>
                  <a:srgbClr val="6E7A6D"/>
                </a:solidFill>
                <a:latin typeface="IBM Plex Sans"/>
              </a:rPr>
              <a:t>  /  16</a:t>
            </a:r>
          </a:p>
        </p:txBody>
      </p:sp>
      <p:sp>
        <p:nvSpPr>
          <p:cNvPr id="8" name="txt-system-4"/>
          <p:cNvSpPr txBox="1"/>
          <p:nvPr/>
        </p:nvSpPr>
        <p:spPr>
          <a:xfrm>
            <a:off x="660400" y="1358900"/>
            <a:ext cx="8255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4200" b="0" i="0" spc="-76">
                <a:solidFill>
                  <a:srgbClr val="1C241F"/>
                </a:solidFill>
                <a:latin typeface="IBM Plex Serif"/>
              </a:rPr>
              <a:t>One dashboard. One closed loop.</a:t>
            </a:r>
          </a:p>
        </p:txBody>
      </p:sp>
      <p:sp>
        <p:nvSpPr>
          <p:cNvPr id="9" name="txt-system-5"/>
          <p:cNvSpPr txBox="1"/>
          <p:nvPr/>
        </p:nvSpPr>
        <p:spPr>
          <a:xfrm>
            <a:off x="876300" y="2095500"/>
            <a:ext cx="1905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 i="0" spc="133">
                <a:solidFill>
                  <a:srgbClr val="1E6F5C"/>
                </a:solidFill>
                <a:latin typeface="IBM Plex Sans"/>
              </a:rPr>
              <a:t>PLAN</a:t>
            </a:r>
          </a:p>
        </p:txBody>
      </p:sp>
      <p:sp>
        <p:nvSpPr>
          <p:cNvPr id="10" name="txt-system-6"/>
          <p:cNvSpPr txBox="1"/>
          <p:nvPr/>
        </p:nvSpPr>
        <p:spPr>
          <a:xfrm>
            <a:off x="876300" y="2349500"/>
            <a:ext cx="29845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550" b="1" i="0" spc="-16">
                <a:solidFill>
                  <a:srgbClr val="1C241F"/>
                </a:solidFill>
                <a:latin typeface="IBM Plex Serif"/>
              </a:rPr>
              <a:t>A planner with six tools</a:t>
            </a:r>
          </a:p>
        </p:txBody>
      </p:sp>
      <p:sp>
        <p:nvSpPr>
          <p:cNvPr id="11" name="txt-system-7"/>
          <p:cNvSpPr txBox="1"/>
          <p:nvPr/>
        </p:nvSpPr>
        <p:spPr>
          <a:xfrm>
            <a:off x="876300" y="2794000"/>
            <a:ext cx="2984500" cy="2349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3D473E"/>
                </a:solidFill>
                <a:latin typeface="IBM Plex Sans"/>
              </a:rPr>
              <a:t>A LangChain planner calls six inspection and submission tools. Vertex AI by default; OpenAI, Groq, OpenRouter and Anthropic selectable.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3D473E"/>
                </a:solidFill>
                <a:latin typeface="IBM Plex Sans"/>
              </a:rPr>
              <a:t/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3D473E"/>
                </a:solidFill>
                <a:latin typeface="IBM Plex Sans"/>
              </a:rPr>
              <a:t>It measures, checks the gate, previews the manoeuvre, then submits — with a rationale.</a:t>
            </a:r>
          </a:p>
        </p:txBody>
      </p:sp>
      <p:sp>
        <p:nvSpPr>
          <p:cNvPr id="12" name="txt-system-8"/>
          <p:cNvSpPr txBox="1"/>
          <p:nvPr/>
        </p:nvSpPr>
        <p:spPr>
          <a:xfrm>
            <a:off x="4279900" y="2095500"/>
            <a:ext cx="1905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 i="0" spc="133">
                <a:solidFill>
                  <a:srgbClr val="1E6F5C"/>
                </a:solidFill>
                <a:latin typeface="IBM Plex Sans"/>
              </a:rPr>
              <a:t>ADVISE</a:t>
            </a:r>
          </a:p>
        </p:txBody>
      </p:sp>
      <p:sp>
        <p:nvSpPr>
          <p:cNvPr id="13" name="txt-system-9"/>
          <p:cNvSpPr txBox="1"/>
          <p:nvPr/>
        </p:nvSpPr>
        <p:spPr>
          <a:xfrm>
            <a:off x="4279900" y="2349500"/>
            <a:ext cx="3302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550" b="1" i="0" spc="-16">
                <a:solidFill>
                  <a:srgbClr val="1C241F"/>
                </a:solidFill>
                <a:latin typeface="IBM Plex Serif"/>
              </a:rPr>
              <a:t>A policy that suggests</a:t>
            </a:r>
          </a:p>
        </p:txBody>
      </p:sp>
      <p:sp>
        <p:nvSpPr>
          <p:cNvPr id="14" name="txt-system-10"/>
          <p:cNvSpPr txBox="1"/>
          <p:nvPr/>
        </p:nvSpPr>
        <p:spPr>
          <a:xfrm>
            <a:off x="4279900" y="2794000"/>
            <a:ext cx="3302000" cy="2349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3D473E"/>
                </a:solidFill>
                <a:latin typeface="IBM Plex Sans"/>
              </a:rPr>
              <a:t>An expert-initialized PPO advisor supplies a learned proposal — a 4-second lookahead closing vector.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3D473E"/>
                </a:solidFill>
                <a:latin typeface="IBM Plex Sans"/>
              </a:rPr>
              <a:t/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3D473E"/>
                </a:solidFill>
                <a:latin typeface="IBM Plex Sans"/>
              </a:rPr>
              <a:t>The planner may adopt it, cap it or reject it, and every decision records which, with a reason.</a:t>
            </a:r>
          </a:p>
        </p:txBody>
      </p:sp>
      <p:sp>
        <p:nvSpPr>
          <p:cNvPr id="15" name="txt-system-11"/>
          <p:cNvSpPr txBox="1"/>
          <p:nvPr/>
        </p:nvSpPr>
        <p:spPr>
          <a:xfrm>
            <a:off x="8089900" y="2095500"/>
            <a:ext cx="1905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 i="0" spc="133">
                <a:solidFill>
                  <a:srgbClr val="1E6F5C"/>
                </a:solidFill>
                <a:latin typeface="IBM Plex Sans"/>
              </a:rPr>
              <a:t>FLY</a:t>
            </a:r>
          </a:p>
        </p:txBody>
      </p:sp>
      <p:sp>
        <p:nvSpPr>
          <p:cNvPr id="16" name="txt-system-12"/>
          <p:cNvSpPr txBox="1"/>
          <p:nvPr/>
        </p:nvSpPr>
        <p:spPr>
          <a:xfrm>
            <a:off x="8089900" y="2349500"/>
            <a:ext cx="3175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550" b="1" i="0" spc="-16">
                <a:solidFill>
                  <a:srgbClr val="1C241F"/>
                </a:solidFill>
                <a:latin typeface="IBM Plex Serif"/>
              </a:rPr>
              <a:t>A controller that never guesses</a:t>
            </a:r>
          </a:p>
        </p:txBody>
      </p:sp>
      <p:sp>
        <p:nvSpPr>
          <p:cNvPr id="17" name="txt-system-13"/>
          <p:cNvSpPr txBox="1"/>
          <p:nvPr/>
        </p:nvSpPr>
        <p:spPr>
          <a:xfrm>
            <a:off x="8089900" y="2794000"/>
            <a:ext cx="3175000" cy="2349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3D473E"/>
                </a:solidFill>
                <a:latin typeface="IBM Plex Sans"/>
              </a:rPr>
              <a:t>An LQR controller tracks the accepted target continuously, under per-axis force, torque, acceleration and stopping-distance envelopes on a 500 kg chaser.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3D473E"/>
                </a:solidFill>
                <a:latin typeface="IBM Plex Sans"/>
              </a:rPr>
              <a:t/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3D473E"/>
                </a:solidFill>
                <a:latin typeface="IBM Plex Sans"/>
              </a:rPr>
              <a:t>Physics never waits for the planner — it keeps stepping while guidance is pending.</a:t>
            </a:r>
          </a:p>
        </p:txBody>
      </p:sp>
      <p:sp>
        <p:nvSpPr>
          <p:cNvPr id="18" name="txt-system-14"/>
          <p:cNvSpPr txBox="1"/>
          <p:nvPr/>
        </p:nvSpPr>
        <p:spPr>
          <a:xfrm>
            <a:off x="889000" y="5473700"/>
            <a:ext cx="3175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 i="0" spc="133">
                <a:solidFill>
                  <a:srgbClr val="F4F1E8"/>
                </a:solidFill>
                <a:latin typeface="IBM Plex Sans"/>
              </a:rPr>
              <a:t>AND UNDERNEATH EVERYTHING</a:t>
            </a:r>
          </a:p>
        </p:txBody>
      </p:sp>
      <p:sp>
        <p:nvSpPr>
          <p:cNvPr id="19" name="txt-system-15"/>
          <p:cNvSpPr txBox="1"/>
          <p:nvPr/>
        </p:nvSpPr>
        <p:spPr>
          <a:xfrm>
            <a:off x="889000" y="5702300"/>
            <a:ext cx="10160000" cy="431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F4F1E8"/>
                </a:solidFill>
                <a:latin typeface="IBM Plex Sans"/>
              </a:rPr>
              <a:t>An independent safety channel reads simulator truth, enforces the motion and capture gates, and performs fault braking — surviving provider loss and stale sensor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rt-lanes" descr="05-lan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xt-lanes-0"/>
          <p:cNvSpPr txBox="1"/>
          <p:nvPr/>
        </p:nvSpPr>
        <p:spPr>
          <a:xfrm>
            <a:off x="660400" y="482600"/>
            <a:ext cx="762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1" i="0" spc="150">
                <a:solidFill>
                  <a:srgbClr val="1E6F5C"/>
                </a:solidFill>
                <a:latin typeface="IBM Plex Sans"/>
              </a:rPr>
              <a:t>CONTROL ARCHITECTURE</a:t>
            </a:r>
          </a:p>
        </p:txBody>
      </p:sp>
      <p:sp>
        <p:nvSpPr>
          <p:cNvPr id="4" name="txt-lanes-1"/>
          <p:cNvSpPr txBox="1"/>
          <p:nvPr/>
        </p:nvSpPr>
        <p:spPr>
          <a:xfrm>
            <a:off x="6985000" y="482600"/>
            <a:ext cx="45466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850" b="0" i="0" spc="153">
                <a:solidFill>
                  <a:srgbClr val="6E7A6D"/>
                </a:solidFill>
                <a:latin typeface="IBM Plex Sans"/>
              </a:rPr>
              <a:t>DOCKING LAB · INVESTOR BRIEF</a:t>
            </a:r>
          </a:p>
        </p:txBody>
      </p:sp>
      <p:sp>
        <p:nvSpPr>
          <p:cNvPr id="5" name="txt-lanes-2"/>
          <p:cNvSpPr txBox="1"/>
          <p:nvPr/>
        </p:nvSpPr>
        <p:spPr>
          <a:xfrm>
            <a:off x="660400" y="6375400"/>
            <a:ext cx="952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50" b="0" i="0" spc="17">
                <a:solidFill>
                  <a:srgbClr val="6E7A6D"/>
                </a:solidFill>
                <a:latin typeface="IBM Plex Sans"/>
              </a:rPr>
              <a:t>lanes · src/app/simulation/runner.py · src/app/llm/rl_advisor.py</a:t>
            </a:r>
          </a:p>
        </p:txBody>
      </p:sp>
      <p:sp>
        <p:nvSpPr>
          <p:cNvPr id="6" name="txt-lanes-3"/>
          <p:cNvSpPr txBox="1"/>
          <p:nvPr/>
        </p:nvSpPr>
        <p:spPr>
          <a:xfrm>
            <a:off x="9626600" y="6337300"/>
            <a:ext cx="1905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850" b="0" i="0" spc="153">
                <a:solidFill>
                  <a:srgbClr val="6E7A6D"/>
                </a:solidFill>
                <a:latin typeface="IBM Plex Sans"/>
              </a:rPr>
              <a:t>05</a:t>
            </a:r>
          </a:p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850" b="0" i="0" spc="153">
                <a:solidFill>
                  <a:srgbClr val="6E7A6D"/>
                </a:solidFill>
                <a:latin typeface="IBM Plex Sans"/>
              </a:rPr>
              <a:t>  /  16</a:t>
            </a:r>
          </a:p>
        </p:txBody>
      </p:sp>
      <p:sp>
        <p:nvSpPr>
          <p:cNvPr id="7" name="txt-lanes-4"/>
          <p:cNvSpPr txBox="1"/>
          <p:nvPr/>
        </p:nvSpPr>
        <p:spPr>
          <a:xfrm>
            <a:off x="660400" y="1358900"/>
            <a:ext cx="108712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4200" b="0" i="0" spc="-76">
                <a:solidFill>
                  <a:srgbClr val="1C241F"/>
                </a:solidFill>
                <a:latin typeface="IBM Plex Serif"/>
              </a:rPr>
              <a:t>Nothing flies unchallenged.</a:t>
            </a:r>
          </a:p>
        </p:txBody>
      </p:sp>
      <p:sp>
        <p:nvSpPr>
          <p:cNvPr id="8" name="txt-lanes-5"/>
          <p:cNvSpPr txBox="1"/>
          <p:nvPr/>
        </p:nvSpPr>
        <p:spPr>
          <a:xfrm>
            <a:off x="660400" y="2184400"/>
            <a:ext cx="7874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0" i="1" spc="-8">
                <a:solidFill>
                  <a:srgbClr val="3D473E"/>
                </a:solidFill>
                <a:latin typeface="IBM Plex Serif"/>
              </a:rPr>
              <a:t>Four lanes. Only the first two can be wrong.</a:t>
            </a:r>
          </a:p>
        </p:txBody>
      </p:sp>
      <p:sp>
        <p:nvSpPr>
          <p:cNvPr id="9" name="txt-lanes-6"/>
          <p:cNvSpPr txBox="1"/>
          <p:nvPr/>
        </p:nvSpPr>
        <p:spPr>
          <a:xfrm>
            <a:off x="698500" y="2832100"/>
            <a:ext cx="381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550" b="1" i="0" spc="-16">
                <a:solidFill>
                  <a:srgbClr val="F4F1E8"/>
                </a:solidFill>
                <a:latin typeface="IBM Plex Serif"/>
              </a:rPr>
              <a:t>1</a:t>
            </a:r>
          </a:p>
        </p:txBody>
      </p:sp>
      <p:sp>
        <p:nvSpPr>
          <p:cNvPr id="10" name="txt-lanes-7"/>
          <p:cNvSpPr txBox="1"/>
          <p:nvPr/>
        </p:nvSpPr>
        <p:spPr>
          <a:xfrm>
            <a:off x="1270000" y="27686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 i="0" spc="133">
                <a:solidFill>
                  <a:srgbClr val="3D473E"/>
                </a:solidFill>
                <a:latin typeface="IBM Plex Sans"/>
              </a:rPr>
              <a:t>PLANNER</a:t>
            </a:r>
          </a:p>
        </p:txBody>
      </p:sp>
      <p:sp>
        <p:nvSpPr>
          <p:cNvPr id="11" name="txt-lanes-8"/>
          <p:cNvSpPr txBox="1"/>
          <p:nvPr/>
        </p:nvSpPr>
        <p:spPr>
          <a:xfrm>
            <a:off x="1270000" y="2984500"/>
            <a:ext cx="7493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3D473E"/>
                </a:solidFill>
                <a:latin typeface="IBM Plex Sans"/>
              </a:rPr>
              <a:t>An LLM over a six-tool loop: measure distance, inspect the capture gate, inspect actuators, read the learned proposal, preview a manoeuvre, submit — returning targets, a rationale and the alternatives it rejected.</a:t>
            </a:r>
          </a:p>
        </p:txBody>
      </p:sp>
      <p:sp>
        <p:nvSpPr>
          <p:cNvPr id="12" name="txt-lanes-9"/>
          <p:cNvSpPr txBox="1"/>
          <p:nvPr/>
        </p:nvSpPr>
        <p:spPr>
          <a:xfrm>
            <a:off x="9525000" y="2844800"/>
            <a:ext cx="203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50" b="0" i="0" spc="17">
                <a:solidFill>
                  <a:srgbClr val="6E7A6D"/>
                </a:solidFill>
                <a:latin typeface="IBM Plex Sans"/>
              </a:rPr>
              <a:t>Vertex AI by default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50" b="0" i="0" spc="17">
                <a:solidFill>
                  <a:srgbClr val="6E7A6D"/>
                </a:solidFill>
                <a:latin typeface="IBM Plex Sans"/>
              </a:rPr>
              <a:t>four providers selectable</a:t>
            </a:r>
          </a:p>
        </p:txBody>
      </p:sp>
      <p:sp>
        <p:nvSpPr>
          <p:cNvPr id="13" name="txt-lanes-10"/>
          <p:cNvSpPr txBox="1"/>
          <p:nvPr/>
        </p:nvSpPr>
        <p:spPr>
          <a:xfrm>
            <a:off x="698500" y="3746500"/>
            <a:ext cx="381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550" b="1" i="0" spc="-16">
                <a:solidFill>
                  <a:srgbClr val="F4F1E8"/>
                </a:solidFill>
                <a:latin typeface="IBM Plex Serif"/>
              </a:rPr>
              <a:t>2</a:t>
            </a:r>
          </a:p>
        </p:txBody>
      </p:sp>
      <p:sp>
        <p:nvSpPr>
          <p:cNvPr id="14" name="txt-lanes-11"/>
          <p:cNvSpPr txBox="1"/>
          <p:nvPr/>
        </p:nvSpPr>
        <p:spPr>
          <a:xfrm>
            <a:off x="1270000" y="36830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 i="0" spc="133">
                <a:solidFill>
                  <a:srgbClr val="3D473E"/>
                </a:solidFill>
                <a:latin typeface="IBM Plex Sans"/>
              </a:rPr>
              <a:t>ADVISOR</a:t>
            </a:r>
          </a:p>
        </p:txBody>
      </p:sp>
      <p:sp>
        <p:nvSpPr>
          <p:cNvPr id="15" name="txt-lanes-12"/>
          <p:cNvSpPr txBox="1"/>
          <p:nvPr/>
        </p:nvSpPr>
        <p:spPr>
          <a:xfrm>
            <a:off x="1270000" y="3898900"/>
            <a:ext cx="7493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3D473E"/>
                </a:solidFill>
                <a:latin typeface="IBM Plex Sans"/>
              </a:rPr>
              <a:t>Expert-initialized PPO proposes a 4 s lookahead closing vector. The planner may adopt it, cap it or reject it — every decision records which, with a reason.</a:t>
            </a:r>
          </a:p>
        </p:txBody>
      </p:sp>
      <p:sp>
        <p:nvSpPr>
          <p:cNvPr id="16" name="txt-lanes-13"/>
          <p:cNvSpPr txBox="1"/>
          <p:nvPr/>
        </p:nvSpPr>
        <p:spPr>
          <a:xfrm>
            <a:off x="9525000" y="3759200"/>
            <a:ext cx="203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50" b="0" i="0" spc="17">
                <a:solidFill>
                  <a:srgbClr val="6E7A6D"/>
                </a:solidFill>
                <a:latin typeface="IBM Plex Sans"/>
              </a:rPr>
              <a:t>advice, never authority</a:t>
            </a:r>
          </a:p>
        </p:txBody>
      </p:sp>
      <p:sp>
        <p:nvSpPr>
          <p:cNvPr id="17" name="txt-lanes-14"/>
          <p:cNvSpPr txBox="1"/>
          <p:nvPr/>
        </p:nvSpPr>
        <p:spPr>
          <a:xfrm>
            <a:off x="698500" y="4660900"/>
            <a:ext cx="381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550" b="1" i="0" spc="-16">
                <a:solidFill>
                  <a:srgbClr val="F4F1E8"/>
                </a:solidFill>
                <a:latin typeface="IBM Plex Serif"/>
              </a:rPr>
              <a:t>3</a:t>
            </a:r>
          </a:p>
        </p:txBody>
      </p:sp>
      <p:sp>
        <p:nvSpPr>
          <p:cNvPr id="18" name="txt-lanes-15"/>
          <p:cNvSpPr txBox="1"/>
          <p:nvPr/>
        </p:nvSpPr>
        <p:spPr>
          <a:xfrm>
            <a:off x="1270000" y="45974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 i="0" spc="133">
                <a:solidFill>
                  <a:srgbClr val="3D473E"/>
                </a:solidFill>
                <a:latin typeface="IBM Plex Sans"/>
              </a:rPr>
              <a:t>EXECUTOR</a:t>
            </a:r>
          </a:p>
        </p:txBody>
      </p:sp>
      <p:sp>
        <p:nvSpPr>
          <p:cNvPr id="19" name="txt-lanes-16"/>
          <p:cNvSpPr txBox="1"/>
          <p:nvPr/>
        </p:nvSpPr>
        <p:spPr>
          <a:xfrm>
            <a:off x="1270000" y="4813300"/>
            <a:ext cx="7493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3D473E"/>
                </a:solidFill>
                <a:latin typeface="IBM Plex Sans"/>
              </a:rPr>
              <a:t>LQR tracking under per-axis force and torque, total thrust, acceleration and stopping-distance envelopes on a 500 kg chaser: 50 N total, 20 N·m per axis, 0.1 m/s² local acceleration.</a:t>
            </a:r>
          </a:p>
        </p:txBody>
      </p:sp>
      <p:sp>
        <p:nvSpPr>
          <p:cNvPr id="20" name="txt-lanes-17"/>
          <p:cNvSpPr txBox="1"/>
          <p:nvPr/>
        </p:nvSpPr>
        <p:spPr>
          <a:xfrm>
            <a:off x="9525000" y="4673600"/>
            <a:ext cx="203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50" b="0" i="0" spc="17">
                <a:solidFill>
                  <a:srgbClr val="6E7A6D"/>
                </a:solidFill>
                <a:latin typeface="IBM Plex Sans"/>
              </a:rPr>
              <a:t>propellant follows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50" b="0" i="0" spc="17">
                <a:solidFill>
                  <a:srgbClr val="6E7A6D"/>
                </a:solidFill>
                <a:latin typeface="IBM Plex Sans"/>
              </a:rPr>
              <a:t>applied impulse</a:t>
            </a:r>
          </a:p>
        </p:txBody>
      </p:sp>
      <p:sp>
        <p:nvSpPr>
          <p:cNvPr id="21" name="txt-lanes-18"/>
          <p:cNvSpPr txBox="1"/>
          <p:nvPr/>
        </p:nvSpPr>
        <p:spPr>
          <a:xfrm>
            <a:off x="698500" y="5575300"/>
            <a:ext cx="381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6000"/>
              </a:lnSpc>
              <a:spcAft>
                <a:spcPts val="0"/>
              </a:spcAft>
            </a:pPr>
            <a:r>
              <a:rPr sz="1550" b="1" i="0" spc="-16">
                <a:solidFill>
                  <a:srgbClr val="F4F1E8"/>
                </a:solidFill>
                <a:latin typeface="IBM Plex Serif"/>
              </a:rPr>
              <a:t>4</a:t>
            </a:r>
          </a:p>
        </p:txBody>
      </p:sp>
      <p:sp>
        <p:nvSpPr>
          <p:cNvPr id="22" name="txt-lanes-19"/>
          <p:cNvSpPr txBox="1"/>
          <p:nvPr/>
        </p:nvSpPr>
        <p:spPr>
          <a:xfrm>
            <a:off x="1270000" y="5511800"/>
            <a:ext cx="190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 i="0" spc="133">
                <a:solidFill>
                  <a:srgbClr val="3D473E"/>
                </a:solidFill>
                <a:latin typeface="IBM Plex Sans"/>
              </a:rPr>
              <a:t>SAFETY CHANNEL</a:t>
            </a:r>
          </a:p>
        </p:txBody>
      </p:sp>
      <p:sp>
        <p:nvSpPr>
          <p:cNvPr id="23" name="txt-lanes-20"/>
          <p:cNvSpPr txBox="1"/>
          <p:nvPr/>
        </p:nvSpPr>
        <p:spPr>
          <a:xfrm>
            <a:off x="1270000" y="5727700"/>
            <a:ext cx="74930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3D473E"/>
                </a:solidFill>
                <a:latin typeface="IBM Plex Sans"/>
              </a:rPr>
              <a:t>Independent of the planner and the policy. It reads simulator truth, enforces the motion and capture gates, discards expired plans and labels the recovery manoeuvre.</a:t>
            </a:r>
          </a:p>
        </p:txBody>
      </p:sp>
      <p:sp>
        <p:nvSpPr>
          <p:cNvPr id="24" name="txt-lanes-21"/>
          <p:cNvSpPr txBox="1"/>
          <p:nvPr/>
        </p:nvSpPr>
        <p:spPr>
          <a:xfrm>
            <a:off x="9525000" y="5588000"/>
            <a:ext cx="2032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50" b="0" i="0" spc="17">
                <a:solidFill>
                  <a:srgbClr val="6E7A6D"/>
                </a:solidFill>
                <a:latin typeface="IBM Plex Sans"/>
              </a:rPr>
              <a:t>survives provider loss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50" b="0" i="0" spc="17">
                <a:solidFill>
                  <a:srgbClr val="6E7A6D"/>
                </a:solidFill>
                <a:latin typeface="IBM Plex Sans"/>
              </a:rPr>
              <a:t>and stale sensor data</a:t>
            </a:r>
          </a:p>
        </p:txBody>
      </p:sp>
      <p:sp>
        <p:nvSpPr>
          <p:cNvPr id="25" name="txt-lanes-22"/>
          <p:cNvSpPr txBox="1"/>
          <p:nvPr/>
        </p:nvSpPr>
        <p:spPr>
          <a:xfrm>
            <a:off x="660400" y="6108700"/>
            <a:ext cx="889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 i="0">
                <a:solidFill>
                  <a:srgbClr val="6E7A6D"/>
                </a:solidFill>
                <a:latin typeface="IBM Plex Sans"/>
              </a:rPr>
              <a:t>In the recorded run, accepted decisions carried 24.4 s and 22.6 s plan age while the simulation kept advancing.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rt-trace" descr="06-tra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late-trace-0"/>
          <p:cNvSpPr/>
          <p:nvPr/>
        </p:nvSpPr>
        <p:spPr>
          <a:xfrm>
            <a:off x="1524000" y="2667000"/>
            <a:ext cx="6350000" cy="1320800"/>
          </a:xfrm>
          <a:prstGeom prst="roundRect">
            <a:avLst>
              <a:gd name="adj" fmla="val 8653"/>
            </a:avLst>
          </a:prstGeom>
          <a:solidFill>
            <a:srgbClr val="182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plate-trace-1"/>
          <p:cNvSpPr/>
          <p:nvPr/>
        </p:nvSpPr>
        <p:spPr>
          <a:xfrm>
            <a:off x="1524000" y="4191000"/>
            <a:ext cx="6350000" cy="1117600"/>
          </a:xfrm>
          <a:prstGeom prst="roundRect">
            <a:avLst>
              <a:gd name="adj" fmla="val 10227"/>
            </a:avLst>
          </a:prstGeom>
          <a:solidFill>
            <a:srgbClr val="1822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xt-trace-0"/>
          <p:cNvSpPr txBox="1"/>
          <p:nvPr/>
        </p:nvSpPr>
        <p:spPr>
          <a:xfrm>
            <a:off x="660400" y="482600"/>
            <a:ext cx="762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1" i="0" spc="150">
                <a:solidFill>
                  <a:srgbClr val="8FD9C4"/>
                </a:solidFill>
                <a:latin typeface="IBM Plex Sans"/>
              </a:rPr>
              <a:t>LIVE TRACE</a:t>
            </a:r>
          </a:p>
        </p:txBody>
      </p:sp>
      <p:sp>
        <p:nvSpPr>
          <p:cNvPr id="6" name="txt-trace-1"/>
          <p:cNvSpPr txBox="1"/>
          <p:nvPr/>
        </p:nvSpPr>
        <p:spPr>
          <a:xfrm>
            <a:off x="6985000" y="482600"/>
            <a:ext cx="45466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850" b="0" i="0" spc="153">
                <a:solidFill>
                  <a:srgbClr val="9DB0AB"/>
                </a:solidFill>
                <a:latin typeface="IBM Plex Sans"/>
              </a:rPr>
              <a:t>DOCKING LAB · INVESTOR BRIEF</a:t>
            </a:r>
          </a:p>
        </p:txBody>
      </p:sp>
      <p:sp>
        <p:nvSpPr>
          <p:cNvPr id="7" name="txt-trace-2"/>
          <p:cNvSpPr txBox="1"/>
          <p:nvPr/>
        </p:nvSpPr>
        <p:spPr>
          <a:xfrm>
            <a:off x="660400" y="6375400"/>
            <a:ext cx="952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50" b="0" i="0" spc="17">
                <a:solidFill>
                  <a:srgbClr val="9DB0AB"/>
                </a:solidFill>
                <a:latin typeface="IBM Plex Sans"/>
              </a:rPr>
              <a:t>verbatim quotes · proofs/precision-vertex-docking/decisions.json</a:t>
            </a:r>
          </a:p>
        </p:txBody>
      </p:sp>
      <p:sp>
        <p:nvSpPr>
          <p:cNvPr id="8" name="txt-trace-3"/>
          <p:cNvSpPr txBox="1"/>
          <p:nvPr/>
        </p:nvSpPr>
        <p:spPr>
          <a:xfrm>
            <a:off x="9626600" y="6337300"/>
            <a:ext cx="1905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850" b="0" i="0" spc="153">
                <a:solidFill>
                  <a:srgbClr val="9DB0AB"/>
                </a:solidFill>
                <a:latin typeface="IBM Plex Sans"/>
              </a:rPr>
              <a:t>06</a:t>
            </a:r>
          </a:p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850" b="0" i="0" spc="153">
                <a:solidFill>
                  <a:srgbClr val="9DB0AB"/>
                </a:solidFill>
                <a:latin typeface="IBM Plex Sans"/>
              </a:rPr>
              <a:t>  /  16</a:t>
            </a:r>
          </a:p>
        </p:txBody>
      </p:sp>
      <p:sp>
        <p:nvSpPr>
          <p:cNvPr id="9" name="txt-trace-4"/>
          <p:cNvSpPr txBox="1"/>
          <p:nvPr/>
        </p:nvSpPr>
        <p:spPr>
          <a:xfrm>
            <a:off x="660400" y="1358900"/>
            <a:ext cx="69850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4200" b="0" i="0" spc="-76">
                <a:solidFill>
                  <a:srgbClr val="F4F1E8"/>
                </a:solidFill>
                <a:latin typeface="IBM Plex Serif"/>
              </a:rPr>
              <a:t>It argued with its own advisor — and won.</a:t>
            </a:r>
          </a:p>
        </p:txBody>
      </p:sp>
      <p:sp>
        <p:nvSpPr>
          <p:cNvPr id="10" name="txt-trace-5"/>
          <p:cNvSpPr txBox="1"/>
          <p:nvPr/>
        </p:nvSpPr>
        <p:spPr>
          <a:xfrm>
            <a:off x="1752600" y="2870200"/>
            <a:ext cx="59055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750" b="0" i="1" spc="-14">
                <a:solidFill>
                  <a:srgbClr val="F4F1E8"/>
                </a:solidFill>
                <a:latin typeface="IBM Plex Serif"/>
              </a:rPr>
              <a:t>“Adopt the RL short-horizon waypoint at 0.65 m/s: rejected — it creates an unnecessary intermediate stop and underutilizes the 2.0 m/s approach envelope at 100 m range.”</a:t>
            </a:r>
          </a:p>
        </p:txBody>
      </p:sp>
      <p:sp>
        <p:nvSpPr>
          <p:cNvPr id="11" name="txt-trace-6"/>
          <p:cNvSpPr txBox="1"/>
          <p:nvPr/>
        </p:nvSpPr>
        <p:spPr>
          <a:xfrm>
            <a:off x="1752600" y="3759200"/>
            <a:ext cx="5905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00" b="0" i="0" spc="18">
                <a:solidFill>
                  <a:srgbClr val="9DB0AB"/>
                </a:solidFill>
                <a:latin typeface="IBM Plex Sans"/>
              </a:rPr>
              <a:t>Vertex gemini-3.8-flash · decision 1 of 2 · plan age 24.4 s · applied</a:t>
            </a:r>
          </a:p>
        </p:txBody>
      </p:sp>
      <p:sp>
        <p:nvSpPr>
          <p:cNvPr id="12" name="txt-trace-7"/>
          <p:cNvSpPr txBox="1"/>
          <p:nvPr/>
        </p:nvSpPr>
        <p:spPr>
          <a:xfrm>
            <a:off x="1752600" y="4368800"/>
            <a:ext cx="59055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750" b="0" i="1" spc="-14">
                <a:solidFill>
                  <a:srgbClr val="F4F1E8"/>
                </a:solidFill>
                <a:latin typeface="IBM Plex Serif"/>
              </a:rPr>
              <a:t>“The RL velocity direction aligns well with the line of sight; the short lookahead is rejected to prevent stopping mid-trajectory.”</a:t>
            </a:r>
          </a:p>
        </p:txBody>
      </p:sp>
      <p:sp>
        <p:nvSpPr>
          <p:cNvPr id="13" name="txt-trace-8"/>
          <p:cNvSpPr txBox="1"/>
          <p:nvPr/>
        </p:nvSpPr>
        <p:spPr>
          <a:xfrm>
            <a:off x="1752600" y="5016500"/>
            <a:ext cx="5905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900" b="0" i="0" spc="18">
                <a:solidFill>
                  <a:srgbClr val="9DB0AB"/>
                </a:solidFill>
                <a:latin typeface="IBM Plex Sans"/>
              </a:rPr>
              <a:t>Vertex gemini-3.8-flash · decision 2 of 2 · range 2.49 m · plan age 22.6 s · applied</a:t>
            </a:r>
          </a:p>
        </p:txBody>
      </p:sp>
      <p:sp>
        <p:nvSpPr>
          <p:cNvPr id="14" name="txt-trace-9"/>
          <p:cNvSpPr txBox="1"/>
          <p:nvPr/>
        </p:nvSpPr>
        <p:spPr>
          <a:xfrm>
            <a:off x="8382000" y="2692400"/>
            <a:ext cx="2921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 i="0" spc="133">
                <a:solidFill>
                  <a:srgbClr val="8FD9C4"/>
                </a:solidFill>
                <a:latin typeface="IBM Plex Sans"/>
              </a:rPr>
              <a:t>WHAT THE RUN RECORDS</a:t>
            </a:r>
          </a:p>
        </p:txBody>
      </p:sp>
      <p:sp>
        <p:nvSpPr>
          <p:cNvPr id="15" name="txt-trace-10"/>
          <p:cNvSpPr txBox="1"/>
          <p:nvPr/>
        </p:nvSpPr>
        <p:spPr>
          <a:xfrm>
            <a:off x="8382000" y="2984500"/>
            <a:ext cx="304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900" b="1" i="0" spc="-73">
                <a:solidFill>
                  <a:srgbClr val="8FD9C4"/>
                </a:solidFill>
                <a:latin typeface="IBM Plex Sans"/>
              </a:rPr>
              <a:t>2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 spc="-12">
                <a:solidFill>
                  <a:srgbClr val="9DB0AB"/>
                </a:solidFill>
                <a:latin typeface="IBM Plex Sans"/>
              </a:rPr>
              <a:t>  decisions</a:t>
            </a:r>
          </a:p>
        </p:txBody>
      </p:sp>
      <p:sp>
        <p:nvSpPr>
          <p:cNvPr id="16" name="txt-trace-11"/>
          <p:cNvSpPr txBox="1"/>
          <p:nvPr/>
        </p:nvSpPr>
        <p:spPr>
          <a:xfrm>
            <a:off x="8382000" y="3467100"/>
            <a:ext cx="304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900" b="1" i="0" spc="-73">
                <a:solidFill>
                  <a:srgbClr val="8FD9C4"/>
                </a:solidFill>
                <a:latin typeface="IBM Plex Sans"/>
              </a:rPr>
              <a:t>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 spc="-12">
                <a:solidFill>
                  <a:srgbClr val="9DB0AB"/>
                </a:solidFill>
                <a:latin typeface="IBM Plex Sans"/>
              </a:rPr>
              <a:t>  fallbacks</a:t>
            </a:r>
          </a:p>
        </p:txBody>
      </p:sp>
      <p:sp>
        <p:nvSpPr>
          <p:cNvPr id="17" name="txt-trace-12"/>
          <p:cNvSpPr txBox="1"/>
          <p:nvPr/>
        </p:nvSpPr>
        <p:spPr>
          <a:xfrm>
            <a:off x="8382000" y="3949700"/>
            <a:ext cx="304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900" b="1" i="0" spc="-73">
                <a:solidFill>
                  <a:srgbClr val="F4F1E8"/>
                </a:solidFill>
                <a:latin typeface="IBM Plex Sans"/>
              </a:rPr>
              <a:t>45.3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 spc="-12">
                <a:solidFill>
                  <a:srgbClr val="9DB0AB"/>
                </a:solidFill>
                <a:latin typeface="IBM Plex Sans"/>
              </a:rPr>
              <a:t>°  initial error</a:t>
            </a:r>
          </a:p>
        </p:txBody>
      </p:sp>
      <p:sp>
        <p:nvSpPr>
          <p:cNvPr id="18" name="txt-trace-13"/>
          <p:cNvSpPr txBox="1"/>
          <p:nvPr/>
        </p:nvSpPr>
        <p:spPr>
          <a:xfrm>
            <a:off x="8382000" y="4432300"/>
            <a:ext cx="3048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900" b="1" i="0" spc="-73">
                <a:solidFill>
                  <a:srgbClr val="F4F1E8"/>
                </a:solidFill>
                <a:latin typeface="IBM Plex Sans"/>
              </a:rPr>
              <a:t>449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 spc="-12">
                <a:solidFill>
                  <a:srgbClr val="9DB0AB"/>
                </a:solidFill>
                <a:latin typeface="IBM Plex Sans"/>
              </a:rPr>
              <a:t>  steps of force + torque</a:t>
            </a:r>
          </a:p>
        </p:txBody>
      </p:sp>
      <p:sp>
        <p:nvSpPr>
          <p:cNvPr id="19" name="txt-trace-14"/>
          <p:cNvSpPr txBox="1"/>
          <p:nvPr/>
        </p:nvSpPr>
        <p:spPr>
          <a:xfrm>
            <a:off x="8382000" y="5054600"/>
            <a:ext cx="29845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50" b="0" i="0" spc="17">
                <a:solidFill>
                  <a:srgbClr val="9DB0AB"/>
                </a:solidFill>
                <a:latin typeface="IBM Plex Sans"/>
              </a:rPr>
              <a:t>Both plans were validated against the state at submission, then re-gated by the safety channel before actuation.</a:t>
            </a:r>
          </a:p>
        </p:txBody>
      </p:sp>
      <p:sp>
        <p:nvSpPr>
          <p:cNvPr id="20" name="txt-trace-15"/>
          <p:cNvSpPr txBox="1"/>
          <p:nvPr/>
        </p:nvSpPr>
        <p:spPr>
          <a:xfrm>
            <a:off x="660400" y="5651500"/>
            <a:ext cx="74930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 i="0">
                <a:solidFill>
                  <a:srgbClr val="9DB0AB"/>
                </a:solidFill>
                <a:latin typeface="IBM Plex Sans"/>
              </a:rPr>
              <a:t>This is the reviewable part: the model states its target, its reason, and the proposal it declined — with the measurement that justified the choice. Short explanations are surfaced; private deliberation is not.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rt-gate" descr="07-ga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late-gate-0"/>
          <p:cNvSpPr/>
          <p:nvPr/>
        </p:nvSpPr>
        <p:spPr>
          <a:xfrm>
            <a:off x="660400" y="2984500"/>
            <a:ext cx="2565400" cy="1587500"/>
          </a:xfrm>
          <a:prstGeom prst="roundRect">
            <a:avLst>
              <a:gd name="adj" fmla="val 8800"/>
            </a:avLst>
          </a:prstGeom>
          <a:solidFill>
            <a:srgbClr val="EAE1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plate-gate-1"/>
          <p:cNvSpPr/>
          <p:nvPr/>
        </p:nvSpPr>
        <p:spPr>
          <a:xfrm rot="21528000">
            <a:off x="3352800" y="2984500"/>
            <a:ext cx="2565400" cy="1587500"/>
          </a:xfrm>
          <a:prstGeom prst="roundRect">
            <a:avLst>
              <a:gd name="adj" fmla="val 8800"/>
            </a:avLst>
          </a:prstGeom>
          <a:solidFill>
            <a:srgbClr val="F1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plate-gate-2"/>
          <p:cNvSpPr/>
          <p:nvPr/>
        </p:nvSpPr>
        <p:spPr>
          <a:xfrm>
            <a:off x="6045200" y="2984500"/>
            <a:ext cx="2565400" cy="1587500"/>
          </a:xfrm>
          <a:prstGeom prst="roundRect">
            <a:avLst>
              <a:gd name="adj" fmla="val 8800"/>
            </a:avLst>
          </a:prstGeom>
          <a:solidFill>
            <a:srgbClr val="F2D9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plate-gate-3"/>
          <p:cNvSpPr/>
          <p:nvPr/>
        </p:nvSpPr>
        <p:spPr>
          <a:xfrm rot="72000">
            <a:off x="8737600" y="2984500"/>
            <a:ext cx="2794000" cy="1587500"/>
          </a:xfrm>
          <a:prstGeom prst="roundRect">
            <a:avLst>
              <a:gd name="adj" fmla="val 8800"/>
            </a:avLst>
          </a:prstGeom>
          <a:solidFill>
            <a:srgbClr val="BDD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7" name="img-gate-0" descr="06-0-port-plat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4953000"/>
            <a:ext cx="10871200" cy="1270000"/>
          </a:xfrm>
          <a:prstGeom prst="rect">
            <a:avLst/>
          </a:prstGeom>
        </p:spPr>
      </p:pic>
      <p:sp>
        <p:nvSpPr>
          <p:cNvPr id="8" name="txt-gate-0"/>
          <p:cNvSpPr txBox="1"/>
          <p:nvPr/>
        </p:nvSpPr>
        <p:spPr>
          <a:xfrm>
            <a:off x="660400" y="482600"/>
            <a:ext cx="762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1" i="0" spc="150">
                <a:solidFill>
                  <a:srgbClr val="1E6F5C"/>
                </a:solidFill>
                <a:latin typeface="IBM Plex Sans"/>
              </a:rPr>
              <a:t>CAPTURE CRITERIA</a:t>
            </a:r>
          </a:p>
        </p:txBody>
      </p:sp>
      <p:sp>
        <p:nvSpPr>
          <p:cNvPr id="9" name="txt-gate-1"/>
          <p:cNvSpPr txBox="1"/>
          <p:nvPr/>
        </p:nvSpPr>
        <p:spPr>
          <a:xfrm>
            <a:off x="6985000" y="482600"/>
            <a:ext cx="45466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850" b="0" i="0" spc="153">
                <a:solidFill>
                  <a:srgbClr val="6E7A6D"/>
                </a:solidFill>
                <a:latin typeface="IBM Plex Sans"/>
              </a:rPr>
              <a:t>DOCKING LAB · INVESTOR BRIEF</a:t>
            </a:r>
          </a:p>
        </p:txBody>
      </p:sp>
      <p:sp>
        <p:nvSpPr>
          <p:cNvPr id="10" name="txt-gate-2"/>
          <p:cNvSpPr txBox="1"/>
          <p:nvPr/>
        </p:nvSpPr>
        <p:spPr>
          <a:xfrm>
            <a:off x="9626600" y="6337300"/>
            <a:ext cx="1905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850" b="0" i="0" spc="153">
                <a:solidFill>
                  <a:srgbClr val="6E7A6D"/>
                </a:solidFill>
                <a:latin typeface="IBM Plex Sans"/>
              </a:rPr>
              <a:t>07</a:t>
            </a:r>
          </a:p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850" b="0" i="0" spc="153">
                <a:solidFill>
                  <a:srgbClr val="6E7A6D"/>
                </a:solidFill>
                <a:latin typeface="IBM Plex Sans"/>
              </a:rPr>
              <a:t>  /  16</a:t>
            </a:r>
          </a:p>
        </p:txBody>
      </p:sp>
      <p:sp>
        <p:nvSpPr>
          <p:cNvPr id="11" name="txt-gate-3"/>
          <p:cNvSpPr txBox="1"/>
          <p:nvPr/>
        </p:nvSpPr>
        <p:spPr>
          <a:xfrm>
            <a:off x="660400" y="1358900"/>
            <a:ext cx="8255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4200" b="0" i="0" spc="-76">
                <a:solidFill>
                  <a:srgbClr val="1C241F"/>
                </a:solidFill>
                <a:latin typeface="IBM Plex Serif"/>
              </a:rPr>
              <a:t>Capture is a contract.</a:t>
            </a:r>
          </a:p>
        </p:txBody>
      </p:sp>
      <p:sp>
        <p:nvSpPr>
          <p:cNvPr id="12" name="txt-gate-4"/>
          <p:cNvSpPr txBox="1"/>
          <p:nvPr/>
        </p:nvSpPr>
        <p:spPr>
          <a:xfrm>
            <a:off x="660400" y="2133600"/>
            <a:ext cx="7874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0" i="1" spc="-8">
                <a:solidFill>
                  <a:srgbClr val="3D473E"/>
                </a:solidFill>
                <a:latin typeface="IBM Plex Serif"/>
              </a:rPr>
              <a:t>All four checks must pass, plus one second of stable alignment and entry into a 5 cm lateral corridor. Manual and automatic capture share the same gate.</a:t>
            </a:r>
          </a:p>
        </p:txBody>
      </p:sp>
      <p:sp>
        <p:nvSpPr>
          <p:cNvPr id="13" name="txt-gate-5"/>
          <p:cNvSpPr txBox="1"/>
          <p:nvPr/>
        </p:nvSpPr>
        <p:spPr>
          <a:xfrm>
            <a:off x="889000" y="3225800"/>
            <a:ext cx="2032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 i="0" spc="133">
                <a:solidFill>
                  <a:srgbClr val="3D473E"/>
                </a:solidFill>
                <a:latin typeface="IBM Plex Sans"/>
              </a:rPr>
              <a:t>RANGE</a:t>
            </a:r>
          </a:p>
        </p:txBody>
      </p:sp>
      <p:sp>
        <p:nvSpPr>
          <p:cNvPr id="14" name="txt-gate-6"/>
          <p:cNvSpPr txBox="1"/>
          <p:nvPr/>
        </p:nvSpPr>
        <p:spPr>
          <a:xfrm>
            <a:off x="889000" y="3479800"/>
            <a:ext cx="20955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900" b="1" i="0" spc="-73">
                <a:solidFill>
                  <a:srgbClr val="1E6F5C"/>
                </a:solidFill>
                <a:latin typeface="IBM Plex Sans"/>
              </a:rPr>
              <a:t>2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 spc="-12">
                <a:solidFill>
                  <a:srgbClr val="3D473E"/>
                </a:solidFill>
                <a:latin typeface="IBM Plex Sans"/>
              </a:rPr>
              <a:t> cm</a:t>
            </a:r>
          </a:p>
        </p:txBody>
      </p:sp>
      <p:sp>
        <p:nvSpPr>
          <p:cNvPr id="15" name="txt-gate-7"/>
          <p:cNvSpPr txBox="1"/>
          <p:nvPr/>
        </p:nvSpPr>
        <p:spPr>
          <a:xfrm>
            <a:off x="889000" y="4038600"/>
            <a:ext cx="2095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50" b="0" i="0" spc="17">
                <a:solidFill>
                  <a:srgbClr val="6E7A6D"/>
                </a:solidFill>
                <a:latin typeface="IBM Plex Sans"/>
              </a:rPr>
              <a:t>shared gate · max 3 cm</a:t>
            </a:r>
          </a:p>
        </p:txBody>
      </p:sp>
      <p:sp>
        <p:nvSpPr>
          <p:cNvPr id="16" name="txt-gate-8"/>
          <p:cNvSpPr txBox="1"/>
          <p:nvPr/>
        </p:nvSpPr>
        <p:spPr>
          <a:xfrm>
            <a:off x="3581400" y="3225800"/>
            <a:ext cx="2032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 i="0" spc="133">
                <a:solidFill>
                  <a:srgbClr val="3D473E"/>
                </a:solidFill>
                <a:latin typeface="IBM Plex Sans"/>
              </a:rPr>
              <a:t>RELATIVE SPEED</a:t>
            </a:r>
          </a:p>
        </p:txBody>
      </p:sp>
      <p:sp>
        <p:nvSpPr>
          <p:cNvPr id="17" name="txt-gate-9"/>
          <p:cNvSpPr txBox="1"/>
          <p:nvPr/>
        </p:nvSpPr>
        <p:spPr>
          <a:xfrm>
            <a:off x="3581400" y="3479800"/>
            <a:ext cx="20955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900" b="1" i="0" spc="-73">
                <a:solidFill>
                  <a:srgbClr val="D8512F"/>
                </a:solidFill>
                <a:latin typeface="IBM Plex Sans"/>
              </a:rPr>
              <a:t>0.005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 spc="-12">
                <a:solidFill>
                  <a:srgbClr val="3D473E"/>
                </a:solidFill>
                <a:latin typeface="IBM Plex Sans"/>
              </a:rPr>
              <a:t> m/s</a:t>
            </a:r>
          </a:p>
        </p:txBody>
      </p:sp>
      <p:sp>
        <p:nvSpPr>
          <p:cNvPr id="18" name="txt-gate-10"/>
          <p:cNvSpPr txBox="1"/>
          <p:nvPr/>
        </p:nvSpPr>
        <p:spPr>
          <a:xfrm>
            <a:off x="3581400" y="4038600"/>
            <a:ext cx="2095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50" b="0" i="0" spc="17">
                <a:solidFill>
                  <a:srgbClr val="6E7A6D"/>
                </a:solidFill>
                <a:latin typeface="IBM Plex Sans"/>
              </a:rPr>
              <a:t>max 0.01 m/s</a:t>
            </a:r>
          </a:p>
        </p:txBody>
      </p:sp>
      <p:sp>
        <p:nvSpPr>
          <p:cNvPr id="19" name="txt-gate-11"/>
          <p:cNvSpPr txBox="1"/>
          <p:nvPr/>
        </p:nvSpPr>
        <p:spPr>
          <a:xfrm>
            <a:off x="6273800" y="3225800"/>
            <a:ext cx="2032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 i="0" spc="133">
                <a:solidFill>
                  <a:srgbClr val="3D473E"/>
                </a:solidFill>
                <a:latin typeface="IBM Plex Sans"/>
              </a:rPr>
              <a:t>ATTITUDE ERROR</a:t>
            </a:r>
          </a:p>
        </p:txBody>
      </p:sp>
      <p:sp>
        <p:nvSpPr>
          <p:cNvPr id="20" name="txt-gate-12"/>
          <p:cNvSpPr txBox="1"/>
          <p:nvPr/>
        </p:nvSpPr>
        <p:spPr>
          <a:xfrm>
            <a:off x="6273800" y="3479800"/>
            <a:ext cx="20955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900" b="1" i="0" spc="-73">
                <a:solidFill>
                  <a:srgbClr val="1C241F"/>
                </a:solidFill>
                <a:latin typeface="IBM Plex Sans"/>
              </a:rPr>
              <a:t>1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 spc="-12">
                <a:solidFill>
                  <a:srgbClr val="3D473E"/>
                </a:solidFill>
                <a:latin typeface="IBM Plex Sans"/>
              </a:rPr>
              <a:t>°</a:t>
            </a:r>
          </a:p>
        </p:txBody>
      </p:sp>
      <p:sp>
        <p:nvSpPr>
          <p:cNvPr id="21" name="txt-gate-13"/>
          <p:cNvSpPr txBox="1"/>
          <p:nvPr/>
        </p:nvSpPr>
        <p:spPr>
          <a:xfrm>
            <a:off x="6273800" y="4038600"/>
            <a:ext cx="2095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50" b="0" i="0" spc="17">
                <a:solidFill>
                  <a:srgbClr val="6E7A6D"/>
                </a:solidFill>
                <a:latin typeface="IBM Plex Sans"/>
              </a:rPr>
              <a:t>default tolerance</a:t>
            </a:r>
          </a:p>
        </p:txBody>
      </p:sp>
      <p:sp>
        <p:nvSpPr>
          <p:cNvPr id="22" name="txt-gate-14"/>
          <p:cNvSpPr txBox="1"/>
          <p:nvPr/>
        </p:nvSpPr>
        <p:spPr>
          <a:xfrm>
            <a:off x="8991600" y="3225800"/>
            <a:ext cx="2159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 i="0" spc="133">
                <a:solidFill>
                  <a:srgbClr val="3D473E"/>
                </a:solidFill>
                <a:latin typeface="IBM Plex Sans"/>
              </a:rPr>
              <a:t>ROTATION RATE</a:t>
            </a:r>
          </a:p>
        </p:txBody>
      </p:sp>
      <p:sp>
        <p:nvSpPr>
          <p:cNvPr id="23" name="txt-gate-15"/>
          <p:cNvSpPr txBox="1"/>
          <p:nvPr/>
        </p:nvSpPr>
        <p:spPr>
          <a:xfrm>
            <a:off x="8991600" y="3479800"/>
            <a:ext cx="22225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2900" b="1" i="0" spc="-73">
                <a:solidFill>
                  <a:srgbClr val="1E6F5C"/>
                </a:solidFill>
                <a:latin typeface="IBM Plex Sans"/>
              </a:rPr>
              <a:t>0.01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 spc="-12">
                <a:solidFill>
                  <a:srgbClr val="3D473E"/>
                </a:solidFill>
                <a:latin typeface="IBM Plex Sans"/>
              </a:rPr>
              <a:t> rad/s</a:t>
            </a:r>
          </a:p>
        </p:txBody>
      </p:sp>
      <p:sp>
        <p:nvSpPr>
          <p:cNvPr id="24" name="txt-gate-16"/>
          <p:cNvSpPr txBox="1"/>
          <p:nvPr/>
        </p:nvSpPr>
        <p:spPr>
          <a:xfrm>
            <a:off x="8991600" y="4038600"/>
            <a:ext cx="22225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50" b="0" i="0" spc="17">
                <a:solidFill>
                  <a:srgbClr val="6E7A6D"/>
                </a:solidFill>
                <a:latin typeface="IBM Plex Sans"/>
              </a:rPr>
              <a:t>relative, at contact</a:t>
            </a:r>
          </a:p>
        </p:txBody>
      </p:sp>
      <p:sp>
        <p:nvSpPr>
          <p:cNvPr id="25" name="txt-gate-17"/>
          <p:cNvSpPr txBox="1"/>
          <p:nvPr/>
        </p:nvSpPr>
        <p:spPr>
          <a:xfrm>
            <a:off x="660400" y="6324600"/>
            <a:ext cx="952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 i="0">
                <a:solidFill>
                  <a:srgbClr val="6E7A6D"/>
                </a:solidFill>
                <a:latin typeface="IBM Plex Sans"/>
              </a:rPr>
              <a:t>A stopping-distance envelope brakes the chaser before the near-port zone, then tightens to capture speed. All four checks are satisfied together, not in sequence.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rt-result" descr="08-resul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late-result-0"/>
          <p:cNvSpPr/>
          <p:nvPr/>
        </p:nvSpPr>
        <p:spPr>
          <a:xfrm>
            <a:off x="660400" y="3556000"/>
            <a:ext cx="6413500" cy="2730500"/>
          </a:xfrm>
          <a:prstGeom prst="roundRect">
            <a:avLst>
              <a:gd name="adj" fmla="val 4651"/>
            </a:avLst>
          </a:prstGeom>
          <a:solidFill>
            <a:srgbClr val="F3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" name="img-result-0" descr="07-0-approach-curve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3708400"/>
            <a:ext cx="6108700" cy="2425700"/>
          </a:xfrm>
          <a:prstGeom prst="rect">
            <a:avLst/>
          </a:prstGeom>
        </p:spPr>
      </p:pic>
      <p:sp>
        <p:nvSpPr>
          <p:cNvPr id="5" name="txt-result-0"/>
          <p:cNvSpPr txBox="1"/>
          <p:nvPr/>
        </p:nvSpPr>
        <p:spPr>
          <a:xfrm>
            <a:off x="660400" y="482600"/>
            <a:ext cx="762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1" i="0" spc="150">
                <a:solidFill>
                  <a:srgbClr val="8FD9C4"/>
                </a:solidFill>
                <a:latin typeface="IBM Plex Sans"/>
              </a:rPr>
              <a:t>RESULT</a:t>
            </a:r>
          </a:p>
        </p:txBody>
      </p:sp>
      <p:sp>
        <p:nvSpPr>
          <p:cNvPr id="6" name="txt-result-1"/>
          <p:cNvSpPr txBox="1"/>
          <p:nvPr/>
        </p:nvSpPr>
        <p:spPr>
          <a:xfrm>
            <a:off x="6985000" y="482600"/>
            <a:ext cx="45466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850" b="0" i="0" spc="153">
                <a:solidFill>
                  <a:srgbClr val="9DB0AB"/>
                </a:solidFill>
                <a:latin typeface="IBM Plex Sans"/>
              </a:rPr>
              <a:t>DOCKING LAB · INVESTOR BRIEF</a:t>
            </a:r>
          </a:p>
        </p:txBody>
      </p:sp>
      <p:sp>
        <p:nvSpPr>
          <p:cNvPr id="7" name="txt-result-2"/>
          <p:cNvSpPr txBox="1"/>
          <p:nvPr/>
        </p:nvSpPr>
        <p:spPr>
          <a:xfrm>
            <a:off x="9626600" y="6337300"/>
            <a:ext cx="1905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850" b="0" i="0" spc="153">
                <a:solidFill>
                  <a:srgbClr val="9DB0AB"/>
                </a:solidFill>
                <a:latin typeface="IBM Plex Sans"/>
              </a:rPr>
              <a:t>08</a:t>
            </a:r>
          </a:p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850" b="0" i="0" spc="153">
                <a:solidFill>
                  <a:srgbClr val="9DB0AB"/>
                </a:solidFill>
                <a:latin typeface="IBM Plex Sans"/>
              </a:rPr>
              <a:t>  /  16</a:t>
            </a:r>
          </a:p>
        </p:txBody>
      </p:sp>
      <p:sp>
        <p:nvSpPr>
          <p:cNvPr id="8" name="txt-result-3"/>
          <p:cNvSpPr txBox="1"/>
          <p:nvPr/>
        </p:nvSpPr>
        <p:spPr>
          <a:xfrm>
            <a:off x="660400" y="1358900"/>
            <a:ext cx="10287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4200" b="0" i="0" spc="-76">
                <a:solidFill>
                  <a:srgbClr val="F4F1E8"/>
                </a:solidFill>
                <a:latin typeface="IBM Plex Serif"/>
              </a:rPr>
              <a:t>100 metres to 1.945 cm. Zero fallbacks.</a:t>
            </a:r>
          </a:p>
        </p:txBody>
      </p:sp>
      <p:sp>
        <p:nvSpPr>
          <p:cNvPr id="9" name="txt-result-4"/>
          <p:cNvSpPr txBox="1"/>
          <p:nvPr/>
        </p:nvSpPr>
        <p:spPr>
          <a:xfrm>
            <a:off x="660400" y="2159000"/>
            <a:ext cx="26670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0" b="1" i="0" spc="-224">
                <a:solidFill>
                  <a:srgbClr val="F4F1E8"/>
                </a:solidFill>
                <a:latin typeface="IBM Plex Sans"/>
              </a:rPr>
              <a:t>1.945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 spc="-12">
                <a:solidFill>
                  <a:srgbClr val="9DB0AB"/>
                </a:solidFill>
                <a:latin typeface="IBM Plex Sans"/>
              </a:rPr>
              <a:t> cm</a:t>
            </a:r>
          </a:p>
        </p:txBody>
      </p:sp>
      <p:sp>
        <p:nvSpPr>
          <p:cNvPr id="10" name="txt-result-5"/>
          <p:cNvSpPr txBox="1"/>
          <p:nvPr/>
        </p:nvSpPr>
        <p:spPr>
          <a:xfrm>
            <a:off x="660400" y="2984500"/>
            <a:ext cx="2667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 i="0" spc="133">
                <a:solidFill>
                  <a:srgbClr val="8FD9C4"/>
                </a:solidFill>
                <a:latin typeface="IBM Plex Sans"/>
              </a:rPr>
              <a:t>FINAL SEPARATION</a:t>
            </a:r>
          </a:p>
        </p:txBody>
      </p:sp>
      <p:sp>
        <p:nvSpPr>
          <p:cNvPr id="11" name="txt-result-6"/>
          <p:cNvSpPr txBox="1"/>
          <p:nvPr/>
        </p:nvSpPr>
        <p:spPr>
          <a:xfrm>
            <a:off x="3454400" y="2159000"/>
            <a:ext cx="26670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0" b="1" i="0" spc="-224">
                <a:solidFill>
                  <a:srgbClr val="F4F1E8"/>
                </a:solidFill>
                <a:latin typeface="IBM Plex Sans"/>
              </a:rPr>
              <a:t>0.004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 spc="-12">
                <a:solidFill>
                  <a:srgbClr val="9DB0AB"/>
                </a:solidFill>
                <a:latin typeface="IBM Plex Sans"/>
              </a:rPr>
              <a:t> m/s</a:t>
            </a:r>
          </a:p>
        </p:txBody>
      </p:sp>
      <p:sp>
        <p:nvSpPr>
          <p:cNvPr id="12" name="txt-result-7"/>
          <p:cNvSpPr txBox="1"/>
          <p:nvPr/>
        </p:nvSpPr>
        <p:spPr>
          <a:xfrm>
            <a:off x="3454400" y="2984500"/>
            <a:ext cx="2667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 i="0" spc="133">
                <a:solidFill>
                  <a:srgbClr val="8FD9C4"/>
                </a:solidFill>
                <a:latin typeface="IBM Plex Sans"/>
              </a:rPr>
              <a:t>SPEED AT CAPTURE</a:t>
            </a:r>
          </a:p>
        </p:txBody>
      </p:sp>
      <p:sp>
        <p:nvSpPr>
          <p:cNvPr id="13" name="txt-result-8"/>
          <p:cNvSpPr txBox="1"/>
          <p:nvPr/>
        </p:nvSpPr>
        <p:spPr>
          <a:xfrm>
            <a:off x="6248400" y="2159000"/>
            <a:ext cx="26670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0" b="1" i="0" spc="-224">
                <a:solidFill>
                  <a:srgbClr val="F4F1E8"/>
                </a:solidFill>
                <a:latin typeface="IBM Plex Sans"/>
              </a:rPr>
              <a:t>133.6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 spc="-12">
                <a:solidFill>
                  <a:srgbClr val="9DB0AB"/>
                </a:solidFill>
                <a:latin typeface="IBM Plex Sans"/>
              </a:rPr>
              <a:t> s</a:t>
            </a:r>
          </a:p>
        </p:txBody>
      </p:sp>
      <p:sp>
        <p:nvSpPr>
          <p:cNvPr id="14" name="txt-result-9"/>
          <p:cNvSpPr txBox="1"/>
          <p:nvPr/>
        </p:nvSpPr>
        <p:spPr>
          <a:xfrm>
            <a:off x="6248400" y="2984500"/>
            <a:ext cx="2667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 i="0" spc="133">
                <a:solidFill>
                  <a:srgbClr val="8FD9C4"/>
                </a:solidFill>
                <a:latin typeface="IBM Plex Sans"/>
              </a:rPr>
              <a:t>SIMULATED TIME</a:t>
            </a:r>
          </a:p>
        </p:txBody>
      </p:sp>
      <p:sp>
        <p:nvSpPr>
          <p:cNvPr id="15" name="txt-result-10"/>
          <p:cNvSpPr txBox="1"/>
          <p:nvPr/>
        </p:nvSpPr>
        <p:spPr>
          <a:xfrm>
            <a:off x="9042400" y="2159000"/>
            <a:ext cx="26670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6400" b="1" i="0" spc="-224">
                <a:solidFill>
                  <a:srgbClr val="F4F1E8"/>
                </a:solidFill>
                <a:latin typeface="IBM Plex Sans"/>
              </a:rPr>
              <a:t>5×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150" b="0" i="0" spc="-12">
                <a:solidFill>
                  <a:srgbClr val="9DB0AB"/>
                </a:solidFill>
                <a:latin typeface="IBM Plex Sans"/>
              </a:rPr>
              <a:t> / 75.4 s</a:t>
            </a:r>
          </a:p>
        </p:txBody>
      </p:sp>
      <p:sp>
        <p:nvSpPr>
          <p:cNvPr id="16" name="txt-result-11"/>
          <p:cNvSpPr txBox="1"/>
          <p:nvPr/>
        </p:nvSpPr>
        <p:spPr>
          <a:xfrm>
            <a:off x="9042400" y="2984500"/>
            <a:ext cx="2667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 i="0" spc="133">
                <a:solidFill>
                  <a:srgbClr val="8FD9C4"/>
                </a:solidFill>
                <a:latin typeface="IBM Plex Sans"/>
              </a:rPr>
              <a:t>PLAYBACK / WALL CLOCK</a:t>
            </a:r>
          </a:p>
        </p:txBody>
      </p:sp>
      <p:sp>
        <p:nvSpPr>
          <p:cNvPr id="17" name="txt-result-12"/>
          <p:cNvSpPr txBox="1"/>
          <p:nvPr/>
        </p:nvSpPr>
        <p:spPr>
          <a:xfrm>
            <a:off x="7366000" y="3759200"/>
            <a:ext cx="3556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 i="0" spc="133">
                <a:solidFill>
                  <a:srgbClr val="8FD9C4"/>
                </a:solidFill>
                <a:latin typeface="IBM Plex Sans"/>
              </a:rPr>
              <a:t>ENVELOPE ACTUALLY USED</a:t>
            </a:r>
          </a:p>
        </p:txBody>
      </p:sp>
      <p:sp>
        <p:nvSpPr>
          <p:cNvPr id="18" name="txt-result-13"/>
          <p:cNvSpPr txBox="1"/>
          <p:nvPr/>
        </p:nvSpPr>
        <p:spPr>
          <a:xfrm>
            <a:off x="7366000" y="4064000"/>
            <a:ext cx="3556000" cy="241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50" b="0" i="0">
                <a:solidFill>
                  <a:srgbClr val="9DB0AB"/>
                </a:solidFill>
                <a:latin typeface="IBM Plex Mono"/>
              </a:rPr>
              <a:t>max speed      1.999 m/s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50" b="0" i="0">
                <a:solidFill>
                  <a:srgbClr val="9DB0AB"/>
                </a:solidFill>
                <a:latin typeface="IBM Plex Mono"/>
              </a:rPr>
              <a:t>max thrust     50.0 N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50" b="0" i="0">
                <a:solidFill>
                  <a:srgbClr val="9DB0AB"/>
                </a:solidFill>
                <a:latin typeface="IBM Plex Mono"/>
              </a:rPr>
              <a:t>max accel      0.100 m/s²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50" b="0" i="0">
                <a:solidFill>
                  <a:srgbClr val="9DB0AB"/>
                </a:solidFill>
                <a:latin typeface="IBM Plex Mono"/>
              </a:rPr>
              <a:t>gate checks    4 / 4 passed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50" b="0" i="0">
                <a:solidFill>
                  <a:srgbClr val="9DB0AB"/>
                </a:solidFill>
                <a:latin typeface="IBM Plex Mono"/>
              </a:rPr>
              <a:t>LLM calls      2 applied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50" b="0" i="0">
                <a:solidFill>
                  <a:srgbClr val="9DB0AB"/>
                </a:solidFill>
                <a:latin typeface="IBM Plex Mono"/>
              </a:rPr>
              <a:t>fallbacks      0</a:t>
            </a:r>
          </a:p>
        </p:txBody>
      </p:sp>
      <p:sp>
        <p:nvSpPr>
          <p:cNvPr id="19" name="txt-result-14"/>
          <p:cNvSpPr txBox="1"/>
          <p:nvPr/>
        </p:nvSpPr>
        <p:spPr>
          <a:xfrm>
            <a:off x="660400" y="6362700"/>
            <a:ext cx="6985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50" b="0" i="0" spc="17">
                <a:solidFill>
                  <a:srgbClr val="9DB0AB"/>
                </a:solidFill>
                <a:latin typeface="IBM Plex Sans"/>
              </a:rPr>
              <a:t>Measured telemetry · live Vertex + PPO advisory · one accelerated demonstration at a 2 cm simulated gate</a:t>
            </a:r>
          </a:p>
        </p:txBody>
      </p:sp>
      <p:sp>
        <p:nvSpPr>
          <p:cNvPr id="20" name="txt-result-15"/>
          <p:cNvSpPr txBox="1"/>
          <p:nvPr/>
        </p:nvSpPr>
        <p:spPr>
          <a:xfrm>
            <a:off x="7366000" y="5435600"/>
            <a:ext cx="4064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50" b="0" i="0" spc="17">
                <a:solidFill>
                  <a:srgbClr val="9DB0AB"/>
                </a:solidFill>
                <a:latin typeface="IBM Plex Sans"/>
              </a:rPr>
              <a:t>Speed and thrust sat exactly at the configured ceilings — the envelope bound the manoeuvre, not the model's optimism.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rt-learner" descr="09-learn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late-learner-0"/>
          <p:cNvSpPr/>
          <p:nvPr/>
        </p:nvSpPr>
        <p:spPr>
          <a:xfrm>
            <a:off x="660400" y="2959100"/>
            <a:ext cx="3454400" cy="1333500"/>
          </a:xfrm>
          <a:prstGeom prst="roundRect">
            <a:avLst>
              <a:gd name="adj" fmla="val 9523"/>
            </a:avLst>
          </a:prstGeom>
          <a:solidFill>
            <a:srgbClr val="EAE1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plate-learner-1"/>
          <p:cNvSpPr/>
          <p:nvPr/>
        </p:nvSpPr>
        <p:spPr>
          <a:xfrm>
            <a:off x="4368800" y="2959100"/>
            <a:ext cx="3454400" cy="1333500"/>
          </a:xfrm>
          <a:prstGeom prst="roundRect">
            <a:avLst>
              <a:gd name="adj" fmla="val 9523"/>
            </a:avLst>
          </a:prstGeom>
          <a:solidFill>
            <a:srgbClr val="EAE1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plate-learner-2"/>
          <p:cNvSpPr/>
          <p:nvPr/>
        </p:nvSpPr>
        <p:spPr>
          <a:xfrm>
            <a:off x="8077200" y="2959100"/>
            <a:ext cx="3454400" cy="1333500"/>
          </a:xfrm>
          <a:prstGeom prst="roundRect">
            <a:avLst>
              <a:gd name="adj" fmla="val 9523"/>
            </a:avLst>
          </a:prstGeom>
          <a:solidFill>
            <a:srgbClr val="1E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plate-learner-3"/>
          <p:cNvSpPr/>
          <p:nvPr/>
        </p:nvSpPr>
        <p:spPr>
          <a:xfrm>
            <a:off x="660400" y="4521200"/>
            <a:ext cx="10871200" cy="1701800"/>
          </a:xfrm>
          <a:prstGeom prst="roundRect">
            <a:avLst>
              <a:gd name="adj" fmla="val 7462"/>
            </a:avLst>
          </a:prstGeom>
          <a:solidFill>
            <a:srgbClr val="D8E1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xt-learner-0"/>
          <p:cNvSpPr txBox="1"/>
          <p:nvPr/>
        </p:nvSpPr>
        <p:spPr>
          <a:xfrm>
            <a:off x="660400" y="482600"/>
            <a:ext cx="762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1" i="0" spc="150">
                <a:solidFill>
                  <a:srgbClr val="1E6F5C"/>
                </a:solidFill>
                <a:latin typeface="IBM Plex Sans"/>
              </a:rPr>
              <a:t>LEARNED ADVISOR</a:t>
            </a:r>
          </a:p>
        </p:txBody>
      </p:sp>
      <p:sp>
        <p:nvSpPr>
          <p:cNvPr id="8" name="txt-learner-1"/>
          <p:cNvSpPr txBox="1"/>
          <p:nvPr/>
        </p:nvSpPr>
        <p:spPr>
          <a:xfrm>
            <a:off x="6985000" y="482600"/>
            <a:ext cx="45466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850" b="0" i="0" spc="153">
                <a:solidFill>
                  <a:srgbClr val="6E7A6D"/>
                </a:solidFill>
                <a:latin typeface="IBM Plex Sans"/>
              </a:rPr>
              <a:t>DOCKING LAB · INVESTOR BRIEF</a:t>
            </a:r>
          </a:p>
        </p:txBody>
      </p:sp>
      <p:sp>
        <p:nvSpPr>
          <p:cNvPr id="9" name="txt-learner-2"/>
          <p:cNvSpPr txBox="1"/>
          <p:nvPr/>
        </p:nvSpPr>
        <p:spPr>
          <a:xfrm>
            <a:off x="660400" y="6375400"/>
            <a:ext cx="952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50" b="0" i="0" spc="17">
                <a:solidFill>
                  <a:srgbClr val="6E7A6D"/>
                </a:solidFill>
                <a:latin typeface="IBM Plex Sans"/>
              </a:rPr>
              <a:t>training + evaluation · proofs/kaggle-final-seed-42/ · proofs/kaggle-final-seed-137/</a:t>
            </a:r>
          </a:p>
        </p:txBody>
      </p:sp>
      <p:sp>
        <p:nvSpPr>
          <p:cNvPr id="10" name="txt-learner-3"/>
          <p:cNvSpPr txBox="1"/>
          <p:nvPr/>
        </p:nvSpPr>
        <p:spPr>
          <a:xfrm>
            <a:off x="9626600" y="6337300"/>
            <a:ext cx="1905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850" b="0" i="0" spc="153">
                <a:solidFill>
                  <a:srgbClr val="6E7A6D"/>
                </a:solidFill>
                <a:latin typeface="IBM Plex Sans"/>
              </a:rPr>
              <a:t>09</a:t>
            </a:r>
          </a:p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850" b="0" i="0" spc="153">
                <a:solidFill>
                  <a:srgbClr val="6E7A6D"/>
                </a:solidFill>
                <a:latin typeface="IBM Plex Sans"/>
              </a:rPr>
              <a:t>  /  16</a:t>
            </a:r>
          </a:p>
        </p:txBody>
      </p:sp>
      <p:sp>
        <p:nvSpPr>
          <p:cNvPr id="11" name="txt-learner-4"/>
          <p:cNvSpPr txBox="1"/>
          <p:nvPr/>
        </p:nvSpPr>
        <p:spPr>
          <a:xfrm>
            <a:off x="660400" y="1358900"/>
            <a:ext cx="8890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4200" b="0" i="0" spc="-76">
                <a:solidFill>
                  <a:srgbClr val="1C241F"/>
                </a:solidFill>
                <a:latin typeface="IBM Plex Serif"/>
              </a:rPr>
              <a:t>Fly the expert. Then improve on it.</a:t>
            </a:r>
          </a:p>
        </p:txBody>
      </p:sp>
      <p:sp>
        <p:nvSpPr>
          <p:cNvPr id="12" name="txt-learner-5"/>
          <p:cNvSpPr txBox="1"/>
          <p:nvPr/>
        </p:nvSpPr>
        <p:spPr>
          <a:xfrm>
            <a:off x="660400" y="2120900"/>
            <a:ext cx="8255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0" i="1" spc="-8">
                <a:solidFill>
                  <a:srgbClr val="3D473E"/>
                </a:solidFill>
                <a:latin typeface="IBM Plex Serif"/>
              </a:rPr>
              <a:t>Reproducible training: expert, cloning, PPO, matched normalisers, held-out seeds.</a:t>
            </a:r>
          </a:p>
        </p:txBody>
      </p:sp>
      <p:sp>
        <p:nvSpPr>
          <p:cNvPr id="13" name="txt-learner-6"/>
          <p:cNvSpPr txBox="1"/>
          <p:nvPr/>
        </p:nvSpPr>
        <p:spPr>
          <a:xfrm>
            <a:off x="889000" y="3175000"/>
            <a:ext cx="2984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 i="0" spc="133">
                <a:solidFill>
                  <a:srgbClr val="1E6F5C"/>
                </a:solidFill>
                <a:latin typeface="IBM Plex Sans"/>
              </a:rPr>
              <a:t>STEP 01 · THE EXPERT</a:t>
            </a:r>
          </a:p>
        </p:txBody>
      </p:sp>
      <p:sp>
        <p:nvSpPr>
          <p:cNvPr id="14" name="txt-learner-7"/>
          <p:cNvSpPr txBox="1"/>
          <p:nvPr/>
        </p:nvSpPr>
        <p:spPr>
          <a:xfrm>
            <a:off x="889000" y="3429000"/>
            <a:ext cx="29845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550" b="1" i="0" spc="-16">
                <a:solidFill>
                  <a:srgbClr val="1C241F"/>
                </a:solidFill>
                <a:latin typeface="IBM Plex Serif"/>
              </a:rPr>
              <a:t>LQR trajectories</a:t>
            </a:r>
          </a:p>
        </p:txBody>
      </p:sp>
      <p:sp>
        <p:nvSpPr>
          <p:cNvPr id="15" name="txt-learner-8"/>
          <p:cNvSpPr txBox="1"/>
          <p:nvPr/>
        </p:nvSpPr>
        <p:spPr>
          <a:xfrm>
            <a:off x="889000" y="3784600"/>
            <a:ext cx="2984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3D473E"/>
                </a:solidFill>
                <a:latin typeface="IBM Plex Sans"/>
              </a:rPr>
              <a:t>100 expert episodes over the same dynamics.</a:t>
            </a:r>
          </a:p>
        </p:txBody>
      </p:sp>
      <p:sp>
        <p:nvSpPr>
          <p:cNvPr id="16" name="txt-learner-9"/>
          <p:cNvSpPr txBox="1"/>
          <p:nvPr/>
        </p:nvSpPr>
        <p:spPr>
          <a:xfrm>
            <a:off x="4597400" y="3175000"/>
            <a:ext cx="2984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 i="0" spc="133">
                <a:solidFill>
                  <a:srgbClr val="1E6F5C"/>
                </a:solidFill>
                <a:latin typeface="IBM Plex Sans"/>
              </a:rPr>
              <a:t>STEP 02 · THE DEMONSTRATION</a:t>
            </a:r>
          </a:p>
        </p:txBody>
      </p:sp>
      <p:sp>
        <p:nvSpPr>
          <p:cNvPr id="17" name="txt-learner-10"/>
          <p:cNvSpPr txBox="1"/>
          <p:nvPr/>
        </p:nvSpPr>
        <p:spPr>
          <a:xfrm>
            <a:off x="4597400" y="3429000"/>
            <a:ext cx="29845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550" b="1" i="0" spc="-16">
                <a:solidFill>
                  <a:srgbClr val="1C241F"/>
                </a:solidFill>
                <a:latin typeface="IBM Plex Serif"/>
              </a:rPr>
              <a:t>Behaviour cloning</a:t>
            </a:r>
          </a:p>
        </p:txBody>
      </p:sp>
      <p:sp>
        <p:nvSpPr>
          <p:cNvPr id="18" name="txt-learner-11"/>
          <p:cNvSpPr txBox="1"/>
          <p:nvPr/>
        </p:nvSpPr>
        <p:spPr>
          <a:xfrm>
            <a:off x="4597400" y="3784600"/>
            <a:ext cx="2984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3D473E"/>
                </a:solidFill>
                <a:latin typeface="IBM Plex Sans"/>
              </a:rPr>
              <a:t>50 epochs on normalised observations.</a:t>
            </a:r>
          </a:p>
        </p:txBody>
      </p:sp>
      <p:sp>
        <p:nvSpPr>
          <p:cNvPr id="19" name="txt-learner-12"/>
          <p:cNvSpPr txBox="1"/>
          <p:nvPr/>
        </p:nvSpPr>
        <p:spPr>
          <a:xfrm>
            <a:off x="8305800" y="3175000"/>
            <a:ext cx="29845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 i="0" spc="133">
                <a:solidFill>
                  <a:srgbClr val="F4F1E8"/>
                </a:solidFill>
                <a:latin typeface="IBM Plex Sans"/>
              </a:rPr>
              <a:t>STEP 03 · THE REFINEMENT</a:t>
            </a:r>
          </a:p>
        </p:txBody>
      </p:sp>
      <p:sp>
        <p:nvSpPr>
          <p:cNvPr id="20" name="txt-learner-13"/>
          <p:cNvSpPr txBox="1"/>
          <p:nvPr/>
        </p:nvSpPr>
        <p:spPr>
          <a:xfrm>
            <a:off x="8305800" y="3429000"/>
            <a:ext cx="29845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550" b="1" i="0" spc="-16">
                <a:solidFill>
                  <a:srgbClr val="F4F1E8"/>
                </a:solidFill>
                <a:latin typeface="IBM Plex Serif"/>
              </a:rPr>
              <a:t>PPO fine-tuning</a:t>
            </a:r>
          </a:p>
        </p:txBody>
      </p:sp>
      <p:sp>
        <p:nvSpPr>
          <p:cNvPr id="21" name="txt-learner-14"/>
          <p:cNvSpPr txBox="1"/>
          <p:nvPr/>
        </p:nvSpPr>
        <p:spPr>
          <a:xfrm>
            <a:off x="8305800" y="3784600"/>
            <a:ext cx="3048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9DB0AB"/>
                </a:solidFill>
                <a:latin typeface="IBM Plex Sans"/>
              </a:rPr>
              <a:t>200,704 steps, 8 environments, two T4 GPUs.</a:t>
            </a:r>
          </a:p>
        </p:txBody>
      </p:sp>
      <p:sp>
        <p:nvSpPr>
          <p:cNvPr id="22" name="txt-learner-15"/>
          <p:cNvSpPr txBox="1"/>
          <p:nvPr/>
        </p:nvSpPr>
        <p:spPr>
          <a:xfrm>
            <a:off x="889000" y="46736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 i="0" spc="133">
                <a:solidFill>
                  <a:srgbClr val="6E7A6D"/>
                </a:solidFill>
                <a:latin typeface="IBM Plex Sans"/>
              </a:rPr>
              <a:t>HELD-OUT EVALUATION · SEEDS 70000–70049 · 5–80 M STARTS</a:t>
            </a:r>
          </a:p>
        </p:txBody>
      </p:sp>
      <p:sp>
        <p:nvSpPr>
          <p:cNvPr id="23" name="txt-learner-16"/>
          <p:cNvSpPr txBox="1"/>
          <p:nvPr/>
        </p:nvSpPr>
        <p:spPr>
          <a:xfrm>
            <a:off x="889000" y="4953000"/>
            <a:ext cx="3937000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 i="0" spc="133">
                <a:solidFill>
                  <a:srgbClr val="6E7A6D"/>
                </a:solidFill>
                <a:latin typeface="IBM Plex Sans"/>
              </a:rPr>
              <a:t>METHOD</a:t>
            </a:r>
          </a:p>
        </p:txBody>
      </p:sp>
      <p:sp>
        <p:nvSpPr>
          <p:cNvPr id="24" name="txt-learner-17"/>
          <p:cNvSpPr txBox="1"/>
          <p:nvPr/>
        </p:nvSpPr>
        <p:spPr>
          <a:xfrm>
            <a:off x="7175500" y="4953000"/>
            <a:ext cx="1905000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 i="0" spc="133">
                <a:solidFill>
                  <a:srgbClr val="6E7A6D"/>
                </a:solidFill>
                <a:latin typeface="IBM Plex Sans"/>
              </a:rPr>
              <a:t>SEED 42</a:t>
            </a:r>
          </a:p>
        </p:txBody>
      </p:sp>
      <p:sp>
        <p:nvSpPr>
          <p:cNvPr id="25" name="txt-learner-18"/>
          <p:cNvSpPr txBox="1"/>
          <p:nvPr/>
        </p:nvSpPr>
        <p:spPr>
          <a:xfrm>
            <a:off x="9461500" y="4953000"/>
            <a:ext cx="1905000" cy="241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 i="0" spc="133">
                <a:solidFill>
                  <a:srgbClr val="6E7A6D"/>
                </a:solidFill>
                <a:latin typeface="IBM Plex Sans"/>
              </a:rPr>
              <a:t>SEED 137</a:t>
            </a:r>
          </a:p>
        </p:txBody>
      </p:sp>
      <p:sp>
        <p:nvSpPr>
          <p:cNvPr id="26" name="txt-learner-19"/>
          <p:cNvSpPr txBox="1"/>
          <p:nvPr/>
        </p:nvSpPr>
        <p:spPr>
          <a:xfrm>
            <a:off x="889000" y="5232400"/>
            <a:ext cx="3937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1C241F"/>
                </a:solidFill>
                <a:latin typeface="IBM Plex Sans"/>
              </a:rPr>
              <a:t>LQR with deterministic planner</a:t>
            </a:r>
          </a:p>
        </p:txBody>
      </p:sp>
      <p:sp>
        <p:nvSpPr>
          <p:cNvPr id="27" name="txt-learner-20"/>
          <p:cNvSpPr txBox="1"/>
          <p:nvPr/>
        </p:nvSpPr>
        <p:spPr>
          <a:xfrm>
            <a:off x="7175500" y="52324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00" b="0" i="0">
                <a:solidFill>
                  <a:srgbClr val="1C241F"/>
                </a:solidFill>
                <a:latin typeface="IBM Plex Mono"/>
              </a:rPr>
              <a:t>50 / 50 docked</a:t>
            </a:r>
          </a:p>
        </p:txBody>
      </p:sp>
      <p:sp>
        <p:nvSpPr>
          <p:cNvPr id="28" name="txt-learner-21"/>
          <p:cNvSpPr txBox="1"/>
          <p:nvPr/>
        </p:nvSpPr>
        <p:spPr>
          <a:xfrm>
            <a:off x="9461500" y="52324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00" b="0" i="0">
                <a:solidFill>
                  <a:srgbClr val="1C241F"/>
                </a:solidFill>
                <a:latin typeface="IBM Plex Mono"/>
              </a:rPr>
              <a:t>50 / 50 docked</a:t>
            </a:r>
          </a:p>
        </p:txBody>
      </p:sp>
      <p:sp>
        <p:nvSpPr>
          <p:cNvPr id="29" name="txt-learner-22"/>
          <p:cNvSpPr txBox="1"/>
          <p:nvPr/>
        </p:nvSpPr>
        <p:spPr>
          <a:xfrm>
            <a:off x="889000" y="5486400"/>
            <a:ext cx="3937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1C241F"/>
                </a:solidFill>
                <a:latin typeface="IBM Plex Sans"/>
              </a:rPr>
              <a:t>PID with deterministic planner</a:t>
            </a:r>
          </a:p>
        </p:txBody>
      </p:sp>
      <p:sp>
        <p:nvSpPr>
          <p:cNvPr id="30" name="txt-learner-23"/>
          <p:cNvSpPr txBox="1"/>
          <p:nvPr/>
        </p:nvSpPr>
        <p:spPr>
          <a:xfrm>
            <a:off x="7175500" y="54864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00" b="0" i="0">
                <a:solidFill>
                  <a:srgbClr val="1C241F"/>
                </a:solidFill>
                <a:latin typeface="IBM Plex Mono"/>
              </a:rPr>
              <a:t>50 / 50 docked</a:t>
            </a:r>
          </a:p>
        </p:txBody>
      </p:sp>
      <p:sp>
        <p:nvSpPr>
          <p:cNvPr id="31" name="txt-learner-24"/>
          <p:cNvSpPr txBox="1"/>
          <p:nvPr/>
        </p:nvSpPr>
        <p:spPr>
          <a:xfrm>
            <a:off x="9461500" y="54864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00" b="0" i="0">
                <a:solidFill>
                  <a:srgbClr val="1C241F"/>
                </a:solidFill>
                <a:latin typeface="IBM Plex Mono"/>
              </a:rPr>
              <a:t>50 / 50 docked</a:t>
            </a:r>
          </a:p>
        </p:txBody>
      </p:sp>
      <p:sp>
        <p:nvSpPr>
          <p:cNvPr id="32" name="txt-learner-25"/>
          <p:cNvSpPr txBox="1"/>
          <p:nvPr/>
        </p:nvSpPr>
        <p:spPr>
          <a:xfrm>
            <a:off x="889000" y="5740400"/>
            <a:ext cx="3937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1C241F"/>
                </a:solidFill>
                <a:latin typeface="IBM Plex Sans"/>
              </a:rPr>
              <a:t>PPO with deterministic planner</a:t>
            </a:r>
          </a:p>
        </p:txBody>
      </p:sp>
      <p:sp>
        <p:nvSpPr>
          <p:cNvPr id="33" name="txt-learner-26"/>
          <p:cNvSpPr txBox="1"/>
          <p:nvPr/>
        </p:nvSpPr>
        <p:spPr>
          <a:xfrm>
            <a:off x="7175500" y="57404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00" b="0" i="0">
                <a:solidFill>
                  <a:srgbClr val="1C241F"/>
                </a:solidFill>
                <a:latin typeface="IBM Plex Mono"/>
              </a:rPr>
              <a:t>50 / 50 docked</a:t>
            </a:r>
          </a:p>
        </p:txBody>
      </p:sp>
      <p:sp>
        <p:nvSpPr>
          <p:cNvPr id="34" name="txt-learner-27"/>
          <p:cNvSpPr txBox="1"/>
          <p:nvPr/>
        </p:nvSpPr>
        <p:spPr>
          <a:xfrm>
            <a:off x="9461500" y="57404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00" b="0" i="0">
                <a:solidFill>
                  <a:srgbClr val="1C241F"/>
                </a:solidFill>
                <a:latin typeface="IBM Plex Mono"/>
              </a:rPr>
              <a:t>50 / 50 docked</a:t>
            </a:r>
          </a:p>
        </p:txBody>
      </p:sp>
      <p:sp>
        <p:nvSpPr>
          <p:cNvPr id="35" name="txt-learner-28"/>
          <p:cNvSpPr txBox="1"/>
          <p:nvPr/>
        </p:nvSpPr>
        <p:spPr>
          <a:xfrm>
            <a:off x="889000" y="5994400"/>
            <a:ext cx="3937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1C241F"/>
                </a:solidFill>
                <a:latin typeface="IBM Plex Sans"/>
              </a:rPr>
              <a:t>LQR with PPO advice — recommended</a:t>
            </a:r>
          </a:p>
        </p:txBody>
      </p:sp>
      <p:sp>
        <p:nvSpPr>
          <p:cNvPr id="36" name="txt-learner-29"/>
          <p:cNvSpPr txBox="1"/>
          <p:nvPr/>
        </p:nvSpPr>
        <p:spPr>
          <a:xfrm>
            <a:off x="7175500" y="59944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00" b="0" i="0">
                <a:solidFill>
                  <a:srgbClr val="1C241F"/>
                </a:solidFill>
                <a:latin typeface="IBM Plex Mono"/>
              </a:rPr>
              <a:t>50 / 50 docked</a:t>
            </a:r>
          </a:p>
        </p:txBody>
      </p:sp>
      <p:sp>
        <p:nvSpPr>
          <p:cNvPr id="37" name="txt-learner-30"/>
          <p:cNvSpPr txBox="1"/>
          <p:nvPr/>
        </p:nvSpPr>
        <p:spPr>
          <a:xfrm>
            <a:off x="9461500" y="5994400"/>
            <a:ext cx="19050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00" b="0" i="0">
                <a:solidFill>
                  <a:srgbClr val="1C241F"/>
                </a:solidFill>
                <a:latin typeface="IBM Plex Mono"/>
              </a:rPr>
              <a:t>50 / 50 docked</a:t>
            </a:r>
          </a:p>
        </p:txBody>
      </p:sp>
      <p:sp>
        <p:nvSpPr>
          <p:cNvPr id="38" name="txt-learner-31"/>
          <p:cNvSpPr txBox="1"/>
          <p:nvPr/>
        </p:nvSpPr>
        <p:spPr>
          <a:xfrm>
            <a:off x="660400" y="6337300"/>
            <a:ext cx="1016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 i="0">
                <a:solidFill>
                  <a:srgbClr val="6E7A6D"/>
                </a:solidFill>
                <a:latin typeface="IBM Plex Sans"/>
              </a:rPr>
              <a:t>The archived policy was trained at a 1.25 m gate — these results do not establish centimetre precision. Every 50/50 carries a Wilson 95% interval of ≈92.9–100%.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rt-evidence" descr="10-evidenc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late-evidence-0"/>
          <p:cNvSpPr/>
          <p:nvPr/>
        </p:nvSpPr>
        <p:spPr>
          <a:xfrm>
            <a:off x="660400" y="2032000"/>
            <a:ext cx="5715000" cy="4191000"/>
          </a:xfrm>
          <a:prstGeom prst="roundRect">
            <a:avLst>
              <a:gd name="adj" fmla="val 3030"/>
            </a:avLst>
          </a:prstGeom>
          <a:solidFill>
            <a:srgbClr val="F3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plate-evidence-1"/>
          <p:cNvSpPr/>
          <p:nvPr/>
        </p:nvSpPr>
        <p:spPr>
          <a:xfrm>
            <a:off x="6756400" y="2032000"/>
            <a:ext cx="4775200" cy="4191000"/>
          </a:xfrm>
          <a:prstGeom prst="roundRect">
            <a:avLst>
              <a:gd name="adj" fmla="val 3030"/>
            </a:avLst>
          </a:prstGeom>
          <a:solidFill>
            <a:srgbClr val="F3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img-evidence-0" descr="09-0-dash-precision-brigh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9600" y="2260600"/>
            <a:ext cx="4368800" cy="2463800"/>
          </a:xfrm>
          <a:prstGeom prst="rect">
            <a:avLst/>
          </a:prstGeom>
        </p:spPr>
      </p:pic>
      <p:sp>
        <p:nvSpPr>
          <p:cNvPr id="6" name="txt-evidence-0"/>
          <p:cNvSpPr txBox="1"/>
          <p:nvPr/>
        </p:nvSpPr>
        <p:spPr>
          <a:xfrm>
            <a:off x="660400" y="482600"/>
            <a:ext cx="762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1" i="0" spc="150">
                <a:solidFill>
                  <a:srgbClr val="1E6F5C"/>
                </a:solidFill>
                <a:latin typeface="IBM Plex Sans"/>
              </a:rPr>
              <a:t>EVIDENCE</a:t>
            </a:r>
          </a:p>
        </p:txBody>
      </p:sp>
      <p:sp>
        <p:nvSpPr>
          <p:cNvPr id="7" name="txt-evidence-1"/>
          <p:cNvSpPr txBox="1"/>
          <p:nvPr/>
        </p:nvSpPr>
        <p:spPr>
          <a:xfrm>
            <a:off x="6985000" y="482600"/>
            <a:ext cx="45466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850" b="0" i="0" spc="153">
                <a:solidFill>
                  <a:srgbClr val="6E7A6D"/>
                </a:solidFill>
                <a:latin typeface="IBM Plex Sans"/>
              </a:rPr>
              <a:t>DOCKING LAB · INVESTOR BRIEF</a:t>
            </a:r>
          </a:p>
        </p:txBody>
      </p:sp>
      <p:sp>
        <p:nvSpPr>
          <p:cNvPr id="8" name="txt-evidence-2"/>
          <p:cNvSpPr txBox="1"/>
          <p:nvPr/>
        </p:nvSpPr>
        <p:spPr>
          <a:xfrm>
            <a:off x="9626600" y="6337300"/>
            <a:ext cx="1905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850" b="0" i="0" spc="153">
                <a:solidFill>
                  <a:srgbClr val="6E7A6D"/>
                </a:solidFill>
                <a:latin typeface="IBM Plex Sans"/>
              </a:rPr>
              <a:t>10</a:t>
            </a:r>
          </a:p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850" b="0" i="0" spc="153">
                <a:solidFill>
                  <a:srgbClr val="6E7A6D"/>
                </a:solidFill>
                <a:latin typeface="IBM Plex Sans"/>
              </a:rPr>
              <a:t>  /  16</a:t>
            </a:r>
          </a:p>
        </p:txBody>
      </p:sp>
      <p:sp>
        <p:nvSpPr>
          <p:cNvPr id="9" name="txt-evidence-3"/>
          <p:cNvSpPr txBox="1"/>
          <p:nvPr/>
        </p:nvSpPr>
        <p:spPr>
          <a:xfrm>
            <a:off x="660400" y="1358900"/>
            <a:ext cx="8890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4200" b="0" i="0" spc="-76">
                <a:solidFill>
                  <a:srgbClr val="1C241F"/>
                </a:solidFill>
                <a:latin typeface="IBM Plex Serif"/>
              </a:rPr>
              <a:t>Every number has a file behind it.</a:t>
            </a:r>
          </a:p>
        </p:txBody>
      </p:sp>
      <p:sp>
        <p:nvSpPr>
          <p:cNvPr id="10" name="txt-evidence-4"/>
          <p:cNvSpPr txBox="1"/>
          <p:nvPr/>
        </p:nvSpPr>
        <p:spPr>
          <a:xfrm>
            <a:off x="876300" y="2260600"/>
            <a:ext cx="4445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 i="0" spc="133">
                <a:solidFill>
                  <a:srgbClr val="1E6F5C"/>
                </a:solidFill>
                <a:latin typeface="IBM Plex Sans"/>
              </a:rPr>
              <a:t>PROOFS TREE · COMMITTED, HASHED, REVIEWED</a:t>
            </a:r>
          </a:p>
        </p:txBody>
      </p:sp>
      <p:sp>
        <p:nvSpPr>
          <p:cNvPr id="11" name="txt-evidence-5"/>
          <p:cNvSpPr txBox="1"/>
          <p:nvPr/>
        </p:nvSpPr>
        <p:spPr>
          <a:xfrm>
            <a:off x="876300" y="2565400"/>
            <a:ext cx="5334000" cy="349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50" b="0" i="0">
                <a:solidFill>
                  <a:srgbClr val="3D473E"/>
                </a:solidFill>
                <a:latin typeface="IBM Plex Mono"/>
              </a:rPr>
              <a:t>kaggle-final-seed-42/      200,704 training steps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50" b="0" i="0">
                <a:solidFill>
                  <a:srgbClr val="3D473E"/>
                </a:solidFill>
                <a:latin typeface="IBM Plex Mono"/>
              </a:rPr>
              <a:t>kaggle-final-seed-137/     independent seed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50" b="0" i="0">
                <a:solidFill>
                  <a:srgbClr val="3D473E"/>
                </a:solidFill>
                <a:latin typeface="IBM Plex Mono"/>
              </a:rPr>
              <a:t>  evaluation.json          every held-out trial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50" b="0" i="0">
                <a:solidFill>
                  <a:srgbClr val="3D473E"/>
                </a:solidFill>
                <a:latin typeface="IBM Plex Mono"/>
              </a:rPr>
              <a:t>  manifest.json            SHA-256 hashes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50" b="0" i="0">
                <a:solidFill>
                  <a:srgbClr val="3D473E"/>
                </a:solidFill>
                <a:latin typeface="IBM Plex Mono"/>
              </a:rPr>
              <a:t>precision-vertex-docking/  live Vertex + PPO run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50" b="0" i="0">
                <a:solidFill>
                  <a:srgbClr val="3D473E"/>
                </a:solidFill>
                <a:latin typeface="IBM Plex Mono"/>
              </a:rPr>
              <a:t>  decisions.json           rationale, rejected options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50" b="0" i="0">
                <a:solidFill>
                  <a:srgbClr val="3D473E"/>
                </a:solidFill>
                <a:latin typeface="IBM Plex Mono"/>
              </a:rPr>
              <a:t>  telemetry.csv            range, speed, thrust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50" b="0" i="0">
                <a:solidFill>
                  <a:srgbClr val="3D473E"/>
                </a:solidFill>
                <a:latin typeface="IBM Plex Mono"/>
              </a:rPr>
              <a:t>code-audit/                30 + 5 modules audited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50" b="0" i="0">
                <a:solidFill>
                  <a:srgbClr val="3D473E"/>
                </a:solidFill>
                <a:latin typeface="IBM Plex Mono"/>
              </a:rPr>
              <a:t>verification.json          pytest · ruff · proofs</a:t>
            </a:r>
          </a:p>
        </p:txBody>
      </p:sp>
      <p:sp>
        <p:nvSpPr>
          <p:cNvPr id="12" name="txt-evidence-6"/>
          <p:cNvSpPr txBox="1"/>
          <p:nvPr/>
        </p:nvSpPr>
        <p:spPr>
          <a:xfrm>
            <a:off x="6959600" y="4876800"/>
            <a:ext cx="4191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 i="0" spc="133">
                <a:solidFill>
                  <a:srgbClr val="1E6F5C"/>
                </a:solidFill>
                <a:latin typeface="IBM Plex Sans"/>
              </a:rPr>
              <a:t>DASHBOARD · DECISION LOG AND EXPORT</a:t>
            </a:r>
          </a:p>
        </p:txBody>
      </p:sp>
      <p:sp>
        <p:nvSpPr>
          <p:cNvPr id="13" name="txt-evidence-7"/>
          <p:cNvSpPr txBox="1"/>
          <p:nvPr/>
        </p:nvSpPr>
        <p:spPr>
          <a:xfrm>
            <a:off x="6959600" y="5156200"/>
            <a:ext cx="4368800" cy="952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3D473E"/>
                </a:solidFill>
                <a:latin typeface="IBM Plex Sans"/>
              </a:rPr>
              <a:t>Every session exports its configuration, decisions, tool readings and terminal checks — raw material for a replay. Runs that failed are kept beside the successes.</a:t>
            </a:r>
          </a:p>
        </p:txBody>
      </p:sp>
      <p:sp>
        <p:nvSpPr>
          <p:cNvPr id="14" name="txt-evidence-8"/>
          <p:cNvSpPr txBox="1"/>
          <p:nvPr/>
        </p:nvSpPr>
        <p:spPr>
          <a:xfrm>
            <a:off x="660400" y="6337300"/>
            <a:ext cx="1016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 i="0">
                <a:solidFill>
                  <a:srgbClr val="6E7A6D"/>
                </a:solidFill>
                <a:latin typeface="IBM Plex Sans"/>
              </a:rPr>
              <a:t>Hashes establish integrity, not endorsement — the reports say so in their own words.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rt-safety" descr="11-safety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late-safety-0"/>
          <p:cNvSpPr/>
          <p:nvPr/>
        </p:nvSpPr>
        <p:spPr>
          <a:xfrm rot="21510000">
            <a:off x="660400" y="2095500"/>
            <a:ext cx="3175000" cy="1397000"/>
          </a:xfrm>
          <a:prstGeom prst="roundRect">
            <a:avLst>
              <a:gd name="adj" fmla="val 9090"/>
            </a:avLst>
          </a:prstGeom>
          <a:solidFill>
            <a:srgbClr val="F1C3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plate-safety-1"/>
          <p:cNvSpPr/>
          <p:nvPr/>
        </p:nvSpPr>
        <p:spPr>
          <a:xfrm rot="90000">
            <a:off x="4191000" y="2095500"/>
            <a:ext cx="3175000" cy="1397000"/>
          </a:xfrm>
          <a:prstGeom prst="roundRect">
            <a:avLst>
              <a:gd name="adj" fmla="val 9090"/>
            </a:avLst>
          </a:prstGeom>
          <a:solidFill>
            <a:srgbClr val="F2D9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plate-safety-2"/>
          <p:cNvSpPr/>
          <p:nvPr/>
        </p:nvSpPr>
        <p:spPr>
          <a:xfrm>
            <a:off x="7747000" y="2095500"/>
            <a:ext cx="3784600" cy="4064000"/>
          </a:xfrm>
          <a:prstGeom prst="roundRect">
            <a:avLst>
              <a:gd name="adj" fmla="val 3355"/>
            </a:avLst>
          </a:prstGeom>
          <a:solidFill>
            <a:srgbClr val="EAE1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6" name="img-safety-0" descr="10-0-dash-capture-bright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0200" y="2362200"/>
            <a:ext cx="3378200" cy="1905000"/>
          </a:xfrm>
          <a:prstGeom prst="rect">
            <a:avLst/>
          </a:prstGeom>
        </p:spPr>
      </p:pic>
      <p:sp>
        <p:nvSpPr>
          <p:cNvPr id="7" name="txt-safety-0"/>
          <p:cNvSpPr txBox="1"/>
          <p:nvPr/>
        </p:nvSpPr>
        <p:spPr>
          <a:xfrm>
            <a:off x="660400" y="482600"/>
            <a:ext cx="762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1" i="0" spc="150">
                <a:solidFill>
                  <a:srgbClr val="1E6F5C"/>
                </a:solidFill>
                <a:latin typeface="IBM Plex Sans"/>
              </a:rPr>
              <a:t>SAFETY &amp; VERIFICATION</a:t>
            </a:r>
          </a:p>
        </p:txBody>
      </p:sp>
      <p:sp>
        <p:nvSpPr>
          <p:cNvPr id="8" name="txt-safety-1"/>
          <p:cNvSpPr txBox="1"/>
          <p:nvPr/>
        </p:nvSpPr>
        <p:spPr>
          <a:xfrm>
            <a:off x="6985000" y="482600"/>
            <a:ext cx="45466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850" b="0" i="0" spc="153">
                <a:solidFill>
                  <a:srgbClr val="6E7A6D"/>
                </a:solidFill>
                <a:latin typeface="IBM Plex Sans"/>
              </a:rPr>
              <a:t>DOCKING LAB · INVESTOR BRIEF</a:t>
            </a:r>
          </a:p>
        </p:txBody>
      </p:sp>
      <p:sp>
        <p:nvSpPr>
          <p:cNvPr id="9" name="txt-safety-2"/>
          <p:cNvSpPr txBox="1"/>
          <p:nvPr/>
        </p:nvSpPr>
        <p:spPr>
          <a:xfrm>
            <a:off x="9626600" y="6337300"/>
            <a:ext cx="1905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850" b="0" i="0" spc="153">
                <a:solidFill>
                  <a:srgbClr val="6E7A6D"/>
                </a:solidFill>
                <a:latin typeface="IBM Plex Sans"/>
              </a:rPr>
              <a:t>11</a:t>
            </a:r>
          </a:p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850" b="0" i="0" spc="153">
                <a:solidFill>
                  <a:srgbClr val="6E7A6D"/>
                </a:solidFill>
                <a:latin typeface="IBM Plex Sans"/>
              </a:rPr>
              <a:t>  /  16</a:t>
            </a:r>
          </a:p>
        </p:txBody>
      </p:sp>
      <p:sp>
        <p:nvSpPr>
          <p:cNvPr id="10" name="txt-safety-3"/>
          <p:cNvSpPr txBox="1"/>
          <p:nvPr/>
        </p:nvSpPr>
        <p:spPr>
          <a:xfrm>
            <a:off x="660400" y="1358900"/>
            <a:ext cx="10160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4200" b="0" i="0" spc="-76">
                <a:solidFill>
                  <a:srgbClr val="1C241F"/>
                </a:solidFill>
                <a:latin typeface="IBM Plex Serif"/>
              </a:rPr>
              <a:t>The safety channel trusts only the state.</a:t>
            </a:r>
          </a:p>
        </p:txBody>
      </p:sp>
      <p:sp>
        <p:nvSpPr>
          <p:cNvPr id="11" name="txt-safety-4"/>
          <p:cNvSpPr txBox="1"/>
          <p:nvPr/>
        </p:nvSpPr>
        <p:spPr>
          <a:xfrm>
            <a:off x="914400" y="2324100"/>
            <a:ext cx="27305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 i="0" spc="-138">
                <a:solidFill>
                  <a:srgbClr val="D8512F"/>
                </a:solidFill>
                <a:latin typeface="IBM Plex Sans"/>
              </a:rPr>
              <a:t>15</a:t>
            </a:r>
          </a:p>
        </p:txBody>
      </p:sp>
      <p:sp>
        <p:nvSpPr>
          <p:cNvPr id="12" name="txt-safety-5"/>
          <p:cNvSpPr txBox="1"/>
          <p:nvPr/>
        </p:nvSpPr>
        <p:spPr>
          <a:xfrm>
            <a:off x="914400" y="3009900"/>
            <a:ext cx="2730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50" b="0" i="0" spc="17">
                <a:solidFill>
                  <a:srgbClr val="3D473E"/>
                </a:solidFill>
                <a:latin typeface="IBM Plex Sans"/>
              </a:rPr>
              <a:t>audit findings checked against execution — and fixed</a:t>
            </a:r>
          </a:p>
        </p:txBody>
      </p:sp>
      <p:sp>
        <p:nvSpPr>
          <p:cNvPr id="13" name="txt-safety-6"/>
          <p:cNvSpPr txBox="1"/>
          <p:nvPr/>
        </p:nvSpPr>
        <p:spPr>
          <a:xfrm>
            <a:off x="4445000" y="2324100"/>
            <a:ext cx="27305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 i="0" spc="-138">
                <a:solidFill>
                  <a:srgbClr val="1E6F5C"/>
                </a:solidFill>
                <a:latin typeface="IBM Plex Sans"/>
              </a:rPr>
              <a:t>6</a:t>
            </a:r>
          </a:p>
        </p:txBody>
      </p:sp>
      <p:sp>
        <p:nvSpPr>
          <p:cNvPr id="14" name="txt-safety-7"/>
          <p:cNvSpPr txBox="1"/>
          <p:nvPr/>
        </p:nvSpPr>
        <p:spPr>
          <a:xfrm>
            <a:off x="4445000" y="3009900"/>
            <a:ext cx="2730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50" b="0" i="0" spc="17">
                <a:solidFill>
                  <a:srgbClr val="3D473E"/>
                </a:solidFill>
                <a:latin typeface="IBM Plex Sans"/>
              </a:rPr>
              <a:t>of them P1, including fault braking moved to an independent channel</a:t>
            </a:r>
          </a:p>
        </p:txBody>
      </p:sp>
      <p:sp>
        <p:nvSpPr>
          <p:cNvPr id="15" name="txt-safety-8"/>
          <p:cNvSpPr txBox="1"/>
          <p:nvPr/>
        </p:nvSpPr>
        <p:spPr>
          <a:xfrm>
            <a:off x="660400" y="3784600"/>
            <a:ext cx="6731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 i="0" spc="133">
                <a:solidFill>
                  <a:srgbClr val="1E6F5C"/>
                </a:solidFill>
                <a:latin typeface="IBM Plex Sans"/>
              </a:rPr>
              <a:t>SELECTED P1 CORRECTIONS</a:t>
            </a:r>
          </a:p>
        </p:txBody>
      </p:sp>
      <p:sp>
        <p:nvSpPr>
          <p:cNvPr id="16" name="txt-safety-9"/>
          <p:cNvSpPr txBox="1"/>
          <p:nvPr/>
        </p:nvSpPr>
        <p:spPr>
          <a:xfrm>
            <a:off x="660400" y="4064000"/>
            <a:ext cx="6731000" cy="215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3D473E"/>
                </a:solidFill>
                <a:latin typeface="IBM Plex Sans"/>
              </a:rPr>
              <a:t>Learned advice was silently off by default → an inference probe now enables it, and Reset restores that verified default.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3D473E"/>
                </a:solidFill>
                <a:latin typeface="IBM Plex Sans"/>
              </a:rPr>
              <a:t/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3D473E"/>
                </a:solidFill>
                <a:latin typeface="IBM Plex Sans"/>
              </a:rPr>
              <a:t>Corrupt policy files passed capability checks → dimensions, normalisation and a finite prediction are validated before a session exists.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3D473E"/>
                </a:solidFill>
                <a:latin typeface="IBM Plex Sans"/>
              </a:rPr>
              <a:t/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3D473E"/>
                </a:solidFill>
                <a:latin typeface="IBM Plex Sans"/>
              </a:rPr>
              <a:t>Expired provider responses installed braking holds → they are discarded and current-state guidance sustains the approach.</a:t>
            </a:r>
          </a:p>
        </p:txBody>
      </p:sp>
      <p:sp>
        <p:nvSpPr>
          <p:cNvPr id="17" name="txt-safety-10"/>
          <p:cNvSpPr txBox="1"/>
          <p:nvPr/>
        </p:nvSpPr>
        <p:spPr>
          <a:xfrm>
            <a:off x="7950200" y="4445000"/>
            <a:ext cx="33782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 i="0" spc="133">
                <a:solidFill>
                  <a:srgbClr val="1E6F5C"/>
                </a:solidFill>
                <a:latin typeface="IBM Plex Sans"/>
              </a:rPr>
              <a:t>CAPTURE CONFIRMED IN THE DASHBOARD</a:t>
            </a:r>
          </a:p>
        </p:txBody>
      </p:sp>
      <p:sp>
        <p:nvSpPr>
          <p:cNvPr id="18" name="txt-safety-11"/>
          <p:cNvSpPr txBox="1"/>
          <p:nvPr/>
        </p:nvSpPr>
        <p:spPr>
          <a:xfrm>
            <a:off x="7950200" y="4724400"/>
            <a:ext cx="3378200" cy="127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3D473E"/>
                </a:solidFill>
                <a:latin typeface="IBM Plex Sans"/>
              </a:rPr>
              <a:t>130 automated tests, ruff clean and a passing production build at the time of the run.</a:t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3D473E"/>
                </a:solidFill>
                <a:latin typeface="IBM Plex Sans"/>
              </a:rPr>
              <a:t/>
            </a:r>
          </a:p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3D473E"/>
                </a:solidFill>
                <a:latin typeface="IBM Plex Sans"/>
              </a:rPr>
              <a:t>Provider failure and invalid output take a labelled deterministic path.</a:t>
            </a:r>
          </a:p>
        </p:txBody>
      </p:sp>
      <p:sp>
        <p:nvSpPr>
          <p:cNvPr id="19" name="txt-safety-12"/>
          <p:cNvSpPr txBox="1"/>
          <p:nvPr/>
        </p:nvSpPr>
        <p:spPr>
          <a:xfrm>
            <a:off x="660400" y="6337300"/>
            <a:ext cx="10160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950" b="0" i="0">
                <a:solidFill>
                  <a:srgbClr val="6E7A6D"/>
                </a:solidFill>
                <a:latin typeface="IBM Plex Sans"/>
              </a:rPr>
              <a:t>Safety here is a simulation-time envelope contract, not flight certification — the roadmap starts with latency and sensor models.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rt-limits" descr="12-limit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xt-limits-0"/>
          <p:cNvSpPr txBox="1"/>
          <p:nvPr/>
        </p:nvSpPr>
        <p:spPr>
          <a:xfrm>
            <a:off x="660400" y="482600"/>
            <a:ext cx="762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1" i="0" spc="150">
                <a:solidFill>
                  <a:srgbClr val="1E6F5C"/>
                </a:solidFill>
                <a:latin typeface="IBM Plex Sans"/>
              </a:rPr>
              <a:t>SCOPE</a:t>
            </a:r>
          </a:p>
        </p:txBody>
      </p:sp>
      <p:sp>
        <p:nvSpPr>
          <p:cNvPr id="4" name="txt-limits-1"/>
          <p:cNvSpPr txBox="1"/>
          <p:nvPr/>
        </p:nvSpPr>
        <p:spPr>
          <a:xfrm>
            <a:off x="6985000" y="482600"/>
            <a:ext cx="45466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850" b="0" i="0" spc="153">
                <a:solidFill>
                  <a:srgbClr val="6E7A6D"/>
                </a:solidFill>
                <a:latin typeface="IBM Plex Sans"/>
              </a:rPr>
              <a:t>DOCKING LAB · INVESTOR BRIEF</a:t>
            </a:r>
          </a:p>
        </p:txBody>
      </p:sp>
      <p:sp>
        <p:nvSpPr>
          <p:cNvPr id="5" name="txt-limits-2"/>
          <p:cNvSpPr txBox="1"/>
          <p:nvPr/>
        </p:nvSpPr>
        <p:spPr>
          <a:xfrm>
            <a:off x="9626600" y="6337300"/>
            <a:ext cx="1905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850" b="0" i="0" spc="153">
                <a:solidFill>
                  <a:srgbClr val="6E7A6D"/>
                </a:solidFill>
                <a:latin typeface="IBM Plex Sans"/>
              </a:rPr>
              <a:t>12</a:t>
            </a:r>
          </a:p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850" b="0" i="0" spc="153">
                <a:solidFill>
                  <a:srgbClr val="6E7A6D"/>
                </a:solidFill>
                <a:latin typeface="IBM Plex Sans"/>
              </a:rPr>
              <a:t>  /  16</a:t>
            </a:r>
          </a:p>
        </p:txBody>
      </p:sp>
      <p:sp>
        <p:nvSpPr>
          <p:cNvPr id="6" name="txt-limits-3"/>
          <p:cNvSpPr txBox="1"/>
          <p:nvPr/>
        </p:nvSpPr>
        <p:spPr>
          <a:xfrm>
            <a:off x="660400" y="1587500"/>
            <a:ext cx="7620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4200" b="0" i="0" spc="-76">
                <a:solidFill>
                  <a:srgbClr val="1C241F"/>
                </a:solidFill>
                <a:latin typeface="IBM Plex Serif"/>
              </a:rPr>
              <a:t>What this is not.</a:t>
            </a:r>
          </a:p>
        </p:txBody>
      </p:sp>
      <p:sp>
        <p:nvSpPr>
          <p:cNvPr id="7" name="txt-limits-4"/>
          <p:cNvSpPr txBox="1"/>
          <p:nvPr/>
        </p:nvSpPr>
        <p:spPr>
          <a:xfrm>
            <a:off x="660400" y="2362200"/>
            <a:ext cx="8890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0" i="1" spc="-8">
                <a:solidFill>
                  <a:srgbClr val="D8512F"/>
                </a:solidFill>
                <a:latin typeface="IBM Plex Serif"/>
              </a:rPr>
              <a:t>Stated up front, because the first serious question is: what does this actually prove?</a:t>
            </a:r>
          </a:p>
        </p:txBody>
      </p:sp>
      <p:sp>
        <p:nvSpPr>
          <p:cNvPr id="8" name="txt-limits-5"/>
          <p:cNvSpPr txBox="1"/>
          <p:nvPr/>
        </p:nvSpPr>
        <p:spPr>
          <a:xfrm>
            <a:off x="660400" y="3429000"/>
            <a:ext cx="4953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1" i="0" spc="150">
                <a:solidFill>
                  <a:srgbClr val="D8512F"/>
                </a:solidFill>
                <a:latin typeface="IBM Plex Sans"/>
              </a:rPr>
              <a:t>NOT FLIGHT-CERTIFIED</a:t>
            </a:r>
          </a:p>
        </p:txBody>
      </p:sp>
      <p:sp>
        <p:nvSpPr>
          <p:cNvPr id="9" name="txt-limits-6"/>
          <p:cNvSpPr txBox="1"/>
          <p:nvPr/>
        </p:nvSpPr>
        <p:spPr>
          <a:xfrm>
            <a:off x="660400" y="3670300"/>
            <a:ext cx="4953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3D473E"/>
                </a:solidFill>
                <a:latin typeface="IBM Plex Sans"/>
              </a:rPr>
              <a:t>Research software, with no certification of any kind.</a:t>
            </a:r>
          </a:p>
        </p:txBody>
      </p:sp>
      <p:sp>
        <p:nvSpPr>
          <p:cNvPr id="10" name="txt-limits-7"/>
          <p:cNvSpPr txBox="1"/>
          <p:nvPr/>
        </p:nvSpPr>
        <p:spPr>
          <a:xfrm>
            <a:off x="660400" y="4191000"/>
            <a:ext cx="4953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1" i="0" spc="150">
                <a:solidFill>
                  <a:srgbClr val="D8512F"/>
                </a:solidFill>
                <a:latin typeface="IBM Plex Sans"/>
              </a:rPr>
              <a:t>LOCAL LINEARISED DYNAMICS</a:t>
            </a:r>
          </a:p>
        </p:txBody>
      </p:sp>
      <p:sp>
        <p:nvSpPr>
          <p:cNvPr id="11" name="txt-limits-8"/>
          <p:cNvSpPr txBox="1"/>
          <p:nvPr/>
        </p:nvSpPr>
        <p:spPr>
          <a:xfrm>
            <a:off x="660400" y="4432300"/>
            <a:ext cx="4953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3D473E"/>
                </a:solidFill>
                <a:latin typeface="IBM Plex Sans"/>
              </a:rPr>
              <a:t>The primary's motion is prescribed, not controlled.</a:t>
            </a:r>
          </a:p>
        </p:txBody>
      </p:sp>
      <p:sp>
        <p:nvSpPr>
          <p:cNvPr id="12" name="txt-limits-9"/>
          <p:cNvSpPr txBox="1"/>
          <p:nvPr/>
        </p:nvSpPr>
        <p:spPr>
          <a:xfrm>
            <a:off x="660400" y="4953000"/>
            <a:ext cx="4953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1" i="0" spc="150">
                <a:solidFill>
                  <a:srgbClr val="D8512F"/>
                </a:solidFill>
                <a:latin typeface="IBM Plex Sans"/>
              </a:rPr>
              <a:t>NO CONTACT MODEL</a:t>
            </a:r>
          </a:p>
        </p:txBody>
      </p:sp>
      <p:sp>
        <p:nvSpPr>
          <p:cNvPr id="13" name="txt-limits-10"/>
          <p:cNvSpPr txBox="1"/>
          <p:nvPr/>
        </p:nvSpPr>
        <p:spPr>
          <a:xfrm>
            <a:off x="660400" y="5194300"/>
            <a:ext cx="4953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3D473E"/>
                </a:solidFill>
                <a:latin typeface="IBM Plex Sans"/>
              </a:rPr>
              <a:t>No contact mechanics, structural dynamics or plume interaction.</a:t>
            </a:r>
          </a:p>
        </p:txBody>
      </p:sp>
      <p:sp>
        <p:nvSpPr>
          <p:cNvPr id="14" name="txt-limits-11"/>
          <p:cNvSpPr txBox="1"/>
          <p:nvPr/>
        </p:nvSpPr>
        <p:spPr>
          <a:xfrm>
            <a:off x="660400" y="5715000"/>
            <a:ext cx="4953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1" i="0" spc="150">
                <a:solidFill>
                  <a:srgbClr val="D8512F"/>
                </a:solidFill>
                <a:latin typeface="IBM Plex Sans"/>
              </a:rPr>
              <a:t>NO SENSOR ESTIMATION</a:t>
            </a:r>
          </a:p>
        </p:txBody>
      </p:sp>
      <p:sp>
        <p:nvSpPr>
          <p:cNvPr id="15" name="txt-limits-12"/>
          <p:cNvSpPr txBox="1"/>
          <p:nvPr/>
        </p:nvSpPr>
        <p:spPr>
          <a:xfrm>
            <a:off x="660400" y="5956300"/>
            <a:ext cx="4953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3D473E"/>
                </a:solidFill>
                <a:latin typeface="IBM Plex Sans"/>
              </a:rPr>
              <a:t>The safety channel reads simulator truth — not a flight-ready estimator.</a:t>
            </a:r>
          </a:p>
        </p:txBody>
      </p:sp>
      <p:sp>
        <p:nvSpPr>
          <p:cNvPr id="16" name="txt-limits-13"/>
          <p:cNvSpPr txBox="1"/>
          <p:nvPr/>
        </p:nvSpPr>
        <p:spPr>
          <a:xfrm>
            <a:off x="6451600" y="3429000"/>
            <a:ext cx="508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1" i="0" spc="150">
                <a:solidFill>
                  <a:srgbClr val="D8512F"/>
                </a:solidFill>
                <a:latin typeface="IBM Plex Sans"/>
              </a:rPr>
              <a:t>DEMONSTRATIONS, NOT RATES</a:t>
            </a:r>
          </a:p>
        </p:txBody>
      </p:sp>
      <p:sp>
        <p:nvSpPr>
          <p:cNvPr id="17" name="txt-limits-14"/>
          <p:cNvSpPr txBox="1"/>
          <p:nvPr/>
        </p:nvSpPr>
        <p:spPr>
          <a:xfrm>
            <a:off x="6451600" y="3670300"/>
            <a:ext cx="5080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3D473E"/>
                </a:solidFill>
                <a:latin typeface="IBM Plex Sans"/>
              </a:rPr>
              <a:t>Provider runs are individual live checks, not a success rate.</a:t>
            </a:r>
          </a:p>
        </p:txBody>
      </p:sp>
      <p:sp>
        <p:nvSpPr>
          <p:cNvPr id="18" name="txt-limits-15"/>
          <p:cNvSpPr txBox="1"/>
          <p:nvPr/>
        </p:nvSpPr>
        <p:spPr>
          <a:xfrm>
            <a:off x="6451600" y="4191000"/>
            <a:ext cx="508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1" i="0" spc="150">
                <a:solidFill>
                  <a:srgbClr val="D8512F"/>
                </a:solidFill>
                <a:latin typeface="IBM Plex Sans"/>
              </a:rPr>
              <a:t>ARCHIVED POLICY LIMITS</a:t>
            </a:r>
          </a:p>
        </p:txBody>
      </p:sp>
      <p:sp>
        <p:nvSpPr>
          <p:cNvPr id="19" name="txt-limits-16"/>
          <p:cNvSpPr txBox="1"/>
          <p:nvPr/>
        </p:nvSpPr>
        <p:spPr>
          <a:xfrm>
            <a:off x="6451600" y="4432300"/>
            <a:ext cx="5080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3D473E"/>
                </a:solidFill>
                <a:latin typeface="IBM Plex Sans"/>
              </a:rPr>
              <a:t>Stored checkpoints were trained at a 1.25 m gate; the 2 cm environment is packaged for fresh training.</a:t>
            </a:r>
          </a:p>
        </p:txBody>
      </p:sp>
      <p:sp>
        <p:nvSpPr>
          <p:cNvPr id="20" name="txt-limits-17"/>
          <p:cNvSpPr txBox="1"/>
          <p:nvPr/>
        </p:nvSpPr>
        <p:spPr>
          <a:xfrm>
            <a:off x="6451600" y="4953000"/>
            <a:ext cx="508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1" i="0" spc="150">
                <a:solidFill>
                  <a:srgbClr val="D8512F"/>
                </a:solidFill>
                <a:latin typeface="IBM Plex Sans"/>
              </a:rPr>
              <a:t>PROCESS-LOCAL SESSIONS</a:t>
            </a:r>
          </a:p>
        </p:txBody>
      </p:sp>
      <p:sp>
        <p:nvSpPr>
          <p:cNvPr id="21" name="txt-limits-18"/>
          <p:cNvSpPr txBox="1"/>
          <p:nvPr/>
        </p:nvSpPr>
        <p:spPr>
          <a:xfrm>
            <a:off x="6451600" y="5194300"/>
            <a:ext cx="5080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3D473E"/>
                </a:solidFill>
                <a:latin typeface="IBM Plex Sans"/>
              </a:rPr>
              <a:t>Four active and 32 retained sessions in memory, no authentication.</a:t>
            </a:r>
          </a:p>
        </p:txBody>
      </p:sp>
      <p:sp>
        <p:nvSpPr>
          <p:cNvPr id="22" name="txt-limits-19"/>
          <p:cNvSpPr txBox="1"/>
          <p:nvPr/>
        </p:nvSpPr>
        <p:spPr>
          <a:xfrm>
            <a:off x="6451600" y="5715000"/>
            <a:ext cx="508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1" i="0" spc="150">
                <a:solidFill>
                  <a:srgbClr val="D8512F"/>
                </a:solidFill>
                <a:latin typeface="IBM Plex Sans"/>
              </a:rPr>
              <a:t>FUEL AND GEOMETRY ARE ASSUMED</a:t>
            </a:r>
          </a:p>
        </p:txBody>
      </p:sp>
      <p:sp>
        <p:nvSpPr>
          <p:cNvPr id="23" name="txt-limits-20"/>
          <p:cNvSpPr txBox="1"/>
          <p:nvPr/>
        </p:nvSpPr>
        <p:spPr>
          <a:xfrm>
            <a:off x="6451600" y="5956300"/>
            <a:ext cx="50800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3D473E"/>
                </a:solidFill>
                <a:latin typeface="IBM Plex Sans"/>
              </a:rPr>
              <a:t>Thruster efficiency, lever arm and inertias are editable simulator assumptions.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rt-integration" descr="13-integrati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late-integration-0"/>
          <p:cNvSpPr/>
          <p:nvPr/>
        </p:nvSpPr>
        <p:spPr>
          <a:xfrm>
            <a:off x="660400" y="2095500"/>
            <a:ext cx="5080000" cy="3302000"/>
          </a:xfrm>
          <a:prstGeom prst="roundRect">
            <a:avLst>
              <a:gd name="adj" fmla="val 4615"/>
            </a:avLst>
          </a:prstGeom>
          <a:solidFill>
            <a:srgbClr val="F3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plate-integration-1"/>
          <p:cNvSpPr/>
          <p:nvPr/>
        </p:nvSpPr>
        <p:spPr>
          <a:xfrm>
            <a:off x="6451600" y="2095500"/>
            <a:ext cx="5080000" cy="3302000"/>
          </a:xfrm>
          <a:prstGeom prst="roundRect">
            <a:avLst>
              <a:gd name="adj" fmla="val 4615"/>
            </a:avLst>
          </a:prstGeom>
          <a:solidFill>
            <a:srgbClr val="1E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plate-integration-2"/>
          <p:cNvSpPr/>
          <p:nvPr/>
        </p:nvSpPr>
        <p:spPr>
          <a:xfrm>
            <a:off x="660400" y="5575300"/>
            <a:ext cx="10871200" cy="635000"/>
          </a:xfrm>
          <a:prstGeom prst="roundRect">
            <a:avLst>
              <a:gd name="adj" fmla="val 18000"/>
            </a:avLst>
          </a:prstGeom>
          <a:solidFill>
            <a:srgbClr val="EAE1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xt-integration-0"/>
          <p:cNvSpPr txBox="1"/>
          <p:nvPr/>
        </p:nvSpPr>
        <p:spPr>
          <a:xfrm>
            <a:off x="660400" y="482600"/>
            <a:ext cx="762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1" i="0" spc="150">
                <a:solidFill>
                  <a:srgbClr val="1E6F5C"/>
                </a:solidFill>
                <a:latin typeface="IBM Plex Sans"/>
              </a:rPr>
              <a:t>INTEGRATION</a:t>
            </a:r>
          </a:p>
        </p:txBody>
      </p:sp>
      <p:sp>
        <p:nvSpPr>
          <p:cNvPr id="7" name="txt-integration-1"/>
          <p:cNvSpPr txBox="1"/>
          <p:nvPr/>
        </p:nvSpPr>
        <p:spPr>
          <a:xfrm>
            <a:off x="6985000" y="482600"/>
            <a:ext cx="45466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850" b="0" i="0" spc="153">
                <a:solidFill>
                  <a:srgbClr val="6E7A6D"/>
                </a:solidFill>
                <a:latin typeface="IBM Plex Sans"/>
              </a:rPr>
              <a:t>DOCKING LAB · INVESTOR BRIEF</a:t>
            </a:r>
          </a:p>
        </p:txBody>
      </p:sp>
      <p:sp>
        <p:nvSpPr>
          <p:cNvPr id="8" name="txt-integration-2"/>
          <p:cNvSpPr txBox="1"/>
          <p:nvPr/>
        </p:nvSpPr>
        <p:spPr>
          <a:xfrm>
            <a:off x="660400" y="6375400"/>
            <a:ext cx="952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50" b="0" i="0" spc="17">
                <a:solidFill>
                  <a:srgbClr val="6E7A6D"/>
                </a:solidFill>
                <a:latin typeface="IBM Plex Sans"/>
              </a:rPr>
              <a:t>interfaces · src/app/llm/tools.py · src/app/simulation/safety.py</a:t>
            </a:r>
          </a:p>
        </p:txBody>
      </p:sp>
      <p:sp>
        <p:nvSpPr>
          <p:cNvPr id="9" name="txt-integration-3"/>
          <p:cNvSpPr txBox="1"/>
          <p:nvPr/>
        </p:nvSpPr>
        <p:spPr>
          <a:xfrm>
            <a:off x="9626600" y="6337300"/>
            <a:ext cx="1905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850" b="0" i="0" spc="153">
                <a:solidFill>
                  <a:srgbClr val="6E7A6D"/>
                </a:solidFill>
                <a:latin typeface="IBM Plex Sans"/>
              </a:rPr>
              <a:t>13</a:t>
            </a:r>
          </a:p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850" b="0" i="0" spc="153">
                <a:solidFill>
                  <a:srgbClr val="6E7A6D"/>
                </a:solidFill>
                <a:latin typeface="IBM Plex Sans"/>
              </a:rPr>
              <a:t>  /  16</a:t>
            </a:r>
          </a:p>
        </p:txBody>
      </p:sp>
      <p:sp>
        <p:nvSpPr>
          <p:cNvPr id="10" name="txt-integration-4"/>
          <p:cNvSpPr txBox="1"/>
          <p:nvPr/>
        </p:nvSpPr>
        <p:spPr>
          <a:xfrm>
            <a:off x="660400" y="1358900"/>
            <a:ext cx="10160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4200" b="0" i="0" spc="-76">
                <a:solidFill>
                  <a:srgbClr val="1C241F"/>
                </a:solidFill>
                <a:latin typeface="IBM Plex Serif"/>
              </a:rPr>
              <a:t>Bring your vehicle. Keep the loop.</a:t>
            </a:r>
          </a:p>
        </p:txBody>
      </p:sp>
      <p:sp>
        <p:nvSpPr>
          <p:cNvPr id="11" name="txt-integration-5"/>
          <p:cNvSpPr txBox="1"/>
          <p:nvPr/>
        </p:nvSpPr>
        <p:spPr>
          <a:xfrm>
            <a:off x="889000" y="2298700"/>
            <a:ext cx="381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 i="0" spc="133">
                <a:solidFill>
                  <a:srgbClr val="1E6F5C"/>
                </a:solidFill>
                <a:latin typeface="IBM Plex Sans"/>
              </a:rPr>
              <a:t>YOU SUPPLY</a:t>
            </a:r>
          </a:p>
        </p:txBody>
      </p:sp>
      <p:sp>
        <p:nvSpPr>
          <p:cNvPr id="12" name="txt-integration-6"/>
          <p:cNvSpPr txBox="1"/>
          <p:nvPr/>
        </p:nvSpPr>
        <p:spPr>
          <a:xfrm>
            <a:off x="889000" y="2590800"/>
            <a:ext cx="4635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550" b="1" i="0" spc="-16">
                <a:solidFill>
                  <a:srgbClr val="1C241F"/>
                </a:solidFill>
                <a:latin typeface="IBM Plex Serif"/>
              </a:rPr>
              <a:t>A reference vehicle</a:t>
            </a:r>
          </a:p>
        </p:txBody>
      </p:sp>
      <p:sp>
        <p:nvSpPr>
          <p:cNvPr id="13" name="txt-integration-7"/>
          <p:cNvSpPr txBox="1"/>
          <p:nvPr/>
        </p:nvSpPr>
        <p:spPr>
          <a:xfrm>
            <a:off x="889000" y="2921000"/>
            <a:ext cx="46355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3D473E"/>
                </a:solidFill>
                <a:latin typeface="IBM Plex Sans"/>
              </a:rPr>
              <a:t>Mass properties, thruster and torque limits, propellant model, port geometry, capture tolerances.</a:t>
            </a:r>
          </a:p>
        </p:txBody>
      </p:sp>
      <p:sp>
        <p:nvSpPr>
          <p:cNvPr id="14" name="txt-integration-8"/>
          <p:cNvSpPr txBox="1"/>
          <p:nvPr/>
        </p:nvSpPr>
        <p:spPr>
          <a:xfrm>
            <a:off x="889000" y="3467100"/>
            <a:ext cx="4635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550" b="1" i="0" spc="-16">
                <a:solidFill>
                  <a:srgbClr val="1C241F"/>
                </a:solidFill>
                <a:latin typeface="IBM Plex Serif"/>
              </a:rPr>
              <a:t>Your dynamics</a:t>
            </a:r>
          </a:p>
        </p:txBody>
      </p:sp>
      <p:sp>
        <p:nvSpPr>
          <p:cNvPr id="15" name="txt-integration-9"/>
          <p:cNvSpPr txBox="1"/>
          <p:nvPr/>
        </p:nvSpPr>
        <p:spPr>
          <a:xfrm>
            <a:off x="889000" y="3797300"/>
            <a:ext cx="46355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3D473E"/>
                </a:solidFill>
                <a:latin typeface="IBM Plex Sans"/>
              </a:rPr>
              <a:t>Propagator or relative-motion model, attitude coupling, actuator response.</a:t>
            </a:r>
          </a:p>
        </p:txBody>
      </p:sp>
      <p:sp>
        <p:nvSpPr>
          <p:cNvPr id="16" name="txt-integration-10"/>
          <p:cNvSpPr txBox="1"/>
          <p:nvPr/>
        </p:nvSpPr>
        <p:spPr>
          <a:xfrm>
            <a:off x="889000" y="4343400"/>
            <a:ext cx="4635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550" b="1" i="0" spc="-16">
                <a:solidFill>
                  <a:srgbClr val="1C241F"/>
                </a:solidFill>
                <a:latin typeface="IBM Plex Serif"/>
              </a:rPr>
              <a:t>A mission profile</a:t>
            </a:r>
          </a:p>
        </p:txBody>
      </p:sp>
      <p:sp>
        <p:nvSpPr>
          <p:cNvPr id="17" name="txt-integration-11"/>
          <p:cNvSpPr txBox="1"/>
          <p:nvPr/>
        </p:nvSpPr>
        <p:spPr>
          <a:xfrm>
            <a:off x="889000" y="4673600"/>
            <a:ext cx="46355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3D473E"/>
                </a:solidFill>
                <a:latin typeface="IBM Plex Sans"/>
              </a:rPr>
              <a:t>Start corridor, approach constraints, abort criteria, and sensor or timing reality.</a:t>
            </a:r>
          </a:p>
        </p:txBody>
      </p:sp>
      <p:sp>
        <p:nvSpPr>
          <p:cNvPr id="18" name="txt-integration-12"/>
          <p:cNvSpPr txBox="1"/>
          <p:nvPr/>
        </p:nvSpPr>
        <p:spPr>
          <a:xfrm>
            <a:off x="6680200" y="2298700"/>
            <a:ext cx="381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 i="0" spc="133">
                <a:solidFill>
                  <a:srgbClr val="F4F1E8"/>
                </a:solidFill>
                <a:latin typeface="IBM Plex Sans"/>
              </a:rPr>
              <a:t>WE KEEP</a:t>
            </a:r>
          </a:p>
        </p:txBody>
      </p:sp>
      <p:sp>
        <p:nvSpPr>
          <p:cNvPr id="19" name="txt-integration-13"/>
          <p:cNvSpPr txBox="1"/>
          <p:nvPr/>
        </p:nvSpPr>
        <p:spPr>
          <a:xfrm>
            <a:off x="6680200" y="2590800"/>
            <a:ext cx="4635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550" b="1" i="0" spc="-16">
                <a:solidFill>
                  <a:srgbClr val="F4F1E8"/>
                </a:solidFill>
                <a:latin typeface="IBM Plex Serif"/>
              </a:rPr>
              <a:t>The planner contract</a:t>
            </a:r>
          </a:p>
        </p:txBody>
      </p:sp>
      <p:sp>
        <p:nvSpPr>
          <p:cNvPr id="20" name="txt-integration-14"/>
          <p:cNvSpPr txBox="1"/>
          <p:nvPr/>
        </p:nvSpPr>
        <p:spPr>
          <a:xfrm>
            <a:off x="6680200" y="2921000"/>
            <a:ext cx="46355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9DB0AB"/>
                </a:solidFill>
                <a:latin typeface="IBM Plex Sans"/>
              </a:rPr>
              <a:t>The same six tools, so plans stay inspectable and comparable across vehicles.</a:t>
            </a:r>
          </a:p>
        </p:txBody>
      </p:sp>
      <p:sp>
        <p:nvSpPr>
          <p:cNvPr id="21" name="txt-integration-15"/>
          <p:cNvSpPr txBox="1"/>
          <p:nvPr/>
        </p:nvSpPr>
        <p:spPr>
          <a:xfrm>
            <a:off x="6680200" y="3467100"/>
            <a:ext cx="4635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550" b="1" i="0" spc="-16">
                <a:solidFill>
                  <a:srgbClr val="F4F1E8"/>
                </a:solidFill>
                <a:latin typeface="IBM Plex Serif"/>
              </a:rPr>
              <a:t>The safety contract</a:t>
            </a:r>
          </a:p>
        </p:txBody>
      </p:sp>
      <p:sp>
        <p:nvSpPr>
          <p:cNvPr id="22" name="txt-integration-16"/>
          <p:cNvSpPr txBox="1"/>
          <p:nvPr/>
        </p:nvSpPr>
        <p:spPr>
          <a:xfrm>
            <a:off x="6680200" y="3797300"/>
            <a:ext cx="46355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9DB0AB"/>
                </a:solidFill>
                <a:latin typeface="IBM Plex Sans"/>
              </a:rPr>
              <a:t>An independent gate over your limits, evaluated on your state estimates.</a:t>
            </a:r>
          </a:p>
        </p:txBody>
      </p:sp>
      <p:sp>
        <p:nvSpPr>
          <p:cNvPr id="23" name="txt-integration-17"/>
          <p:cNvSpPr txBox="1"/>
          <p:nvPr/>
        </p:nvSpPr>
        <p:spPr>
          <a:xfrm>
            <a:off x="6680200" y="4343400"/>
            <a:ext cx="4635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550" b="1" i="0" spc="-16">
                <a:solidFill>
                  <a:srgbClr val="F4F1E8"/>
                </a:solidFill>
                <a:latin typeface="IBM Plex Serif"/>
              </a:rPr>
              <a:t>The evidence pipeline</a:t>
            </a:r>
          </a:p>
        </p:txBody>
      </p:sp>
      <p:sp>
        <p:nvSpPr>
          <p:cNvPr id="24" name="txt-integration-18"/>
          <p:cNvSpPr txBox="1"/>
          <p:nvPr/>
        </p:nvSpPr>
        <p:spPr>
          <a:xfrm>
            <a:off x="6680200" y="4673600"/>
            <a:ext cx="4635500" cy="5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9DB0AB"/>
                </a:solidFill>
                <a:latin typeface="IBM Plex Sans"/>
              </a:rPr>
              <a:t>Decisions, telemetry and hashes in one shape, so reviewers read one format.</a:t>
            </a:r>
          </a:p>
        </p:txBody>
      </p:sp>
      <p:sp>
        <p:nvSpPr>
          <p:cNvPr id="25" name="txt-integration-19"/>
          <p:cNvSpPr txBox="1"/>
          <p:nvPr/>
        </p:nvSpPr>
        <p:spPr>
          <a:xfrm>
            <a:off x="889000" y="5689600"/>
            <a:ext cx="317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 i="0" spc="133">
                <a:solidFill>
                  <a:srgbClr val="1E6F5C"/>
                </a:solidFill>
                <a:latin typeface="IBM Plex Sans"/>
              </a:rPr>
              <a:t>SWAP POINTS</a:t>
            </a:r>
          </a:p>
        </p:txBody>
      </p:sp>
      <p:sp>
        <p:nvSpPr>
          <p:cNvPr id="26" name="txt-integration-20"/>
          <p:cNvSpPr txBox="1"/>
          <p:nvPr/>
        </p:nvSpPr>
        <p:spPr>
          <a:xfrm>
            <a:off x="889000" y="5880100"/>
            <a:ext cx="10287000" cy="317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50" b="0" i="0">
                <a:solidFill>
                  <a:srgbClr val="3D473E"/>
                </a:solidFill>
                <a:latin typeface="IBM Plex Mono"/>
              </a:rPr>
              <a:t>dynamics — replace Clohessy–Wiltshire with your propagator     controller — replace LQR with your GNC law     policy — plug your own policy into the advisor slot, it stays advisory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rt-roadmap" descr="14-roadmap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xt-roadmap-0"/>
          <p:cNvSpPr txBox="1"/>
          <p:nvPr/>
        </p:nvSpPr>
        <p:spPr>
          <a:xfrm>
            <a:off x="660400" y="482600"/>
            <a:ext cx="762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1" i="0" spc="150">
                <a:solidFill>
                  <a:srgbClr val="1E6F5C"/>
                </a:solidFill>
                <a:latin typeface="IBM Plex Sans"/>
              </a:rPr>
              <a:t>ROADMAP</a:t>
            </a:r>
          </a:p>
        </p:txBody>
      </p:sp>
      <p:sp>
        <p:nvSpPr>
          <p:cNvPr id="4" name="txt-roadmap-1"/>
          <p:cNvSpPr txBox="1"/>
          <p:nvPr/>
        </p:nvSpPr>
        <p:spPr>
          <a:xfrm>
            <a:off x="6985000" y="482600"/>
            <a:ext cx="45466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850" b="0" i="0" spc="153">
                <a:solidFill>
                  <a:srgbClr val="6E7A6D"/>
                </a:solidFill>
                <a:latin typeface="IBM Plex Sans"/>
              </a:rPr>
              <a:t>DOCKING LAB · INVESTOR BRIEF</a:t>
            </a:r>
          </a:p>
        </p:txBody>
      </p:sp>
      <p:sp>
        <p:nvSpPr>
          <p:cNvPr id="5" name="txt-roadmap-2"/>
          <p:cNvSpPr txBox="1"/>
          <p:nvPr/>
        </p:nvSpPr>
        <p:spPr>
          <a:xfrm>
            <a:off x="9626600" y="6337300"/>
            <a:ext cx="1905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850" b="0" i="0" spc="153">
                <a:solidFill>
                  <a:srgbClr val="6E7A6D"/>
                </a:solidFill>
                <a:latin typeface="IBM Plex Sans"/>
              </a:rPr>
              <a:t>14</a:t>
            </a:r>
          </a:p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850" b="0" i="0" spc="153">
                <a:solidFill>
                  <a:srgbClr val="6E7A6D"/>
                </a:solidFill>
                <a:latin typeface="IBM Plex Sans"/>
              </a:rPr>
              <a:t>  /  16</a:t>
            </a:r>
          </a:p>
        </p:txBody>
      </p:sp>
      <p:sp>
        <p:nvSpPr>
          <p:cNvPr id="6" name="txt-roadmap-3"/>
          <p:cNvSpPr txBox="1"/>
          <p:nvPr/>
        </p:nvSpPr>
        <p:spPr>
          <a:xfrm>
            <a:off x="660400" y="1358900"/>
            <a:ext cx="10160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4200" b="0" i="0" spc="-76">
                <a:solidFill>
                  <a:srgbClr val="1C241F"/>
                </a:solidFill>
                <a:latin typeface="IBM Plex Serif"/>
              </a:rPr>
              <a:t>From simulator to qualification.</a:t>
            </a:r>
          </a:p>
        </p:txBody>
      </p:sp>
      <p:sp>
        <p:nvSpPr>
          <p:cNvPr id="7" name="txt-roadmap-4"/>
          <p:cNvSpPr txBox="1"/>
          <p:nvPr/>
        </p:nvSpPr>
        <p:spPr>
          <a:xfrm>
            <a:off x="660400" y="2159000"/>
            <a:ext cx="76200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0" i="1" spc="-8">
                <a:solidFill>
                  <a:srgbClr val="3D473E"/>
                </a:solidFill>
                <a:latin typeface="IBM Plex Serif"/>
              </a:rPr>
              <a:t>Three phases, proposed with a partner — none has started.</a:t>
            </a:r>
          </a:p>
        </p:txBody>
      </p:sp>
      <p:sp>
        <p:nvSpPr>
          <p:cNvPr id="8" name="txt-roadmap-5"/>
          <p:cNvSpPr txBox="1"/>
          <p:nvPr/>
        </p:nvSpPr>
        <p:spPr>
          <a:xfrm>
            <a:off x="660400" y="2768600"/>
            <a:ext cx="3175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 i="0" spc="133">
                <a:solidFill>
                  <a:srgbClr val="1E6F5C"/>
                </a:solidFill>
                <a:latin typeface="IBM Plex Sans"/>
              </a:rPr>
              <a:t>PHASE 01</a:t>
            </a:r>
          </a:p>
        </p:txBody>
      </p:sp>
      <p:sp>
        <p:nvSpPr>
          <p:cNvPr id="9" name="txt-roadmap-6"/>
          <p:cNvSpPr txBox="1"/>
          <p:nvPr/>
        </p:nvSpPr>
        <p:spPr>
          <a:xfrm>
            <a:off x="660400" y="3022600"/>
            <a:ext cx="3175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550" b="1" i="0" spc="-16">
                <a:solidFill>
                  <a:srgbClr val="1C241F"/>
                </a:solidFill>
                <a:latin typeface="IBM Plex Serif"/>
              </a:rPr>
              <a:t>Partner dynamics</a:t>
            </a:r>
          </a:p>
        </p:txBody>
      </p:sp>
      <p:sp>
        <p:nvSpPr>
          <p:cNvPr id="10" name="txt-roadmap-7"/>
          <p:cNvSpPr txBox="1"/>
          <p:nvPr/>
        </p:nvSpPr>
        <p:spPr>
          <a:xfrm>
            <a:off x="660400" y="3467100"/>
            <a:ext cx="3175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3D473E"/>
                </a:solidFill>
                <a:latin typeface="IBM Plex Sans"/>
              </a:rPr>
              <a:t>Plug a partner propagator and actuator model in, re-run the reference scenarios, and publish a paired comparison against the current stack.</a:t>
            </a:r>
          </a:p>
        </p:txBody>
      </p:sp>
      <p:sp>
        <p:nvSpPr>
          <p:cNvPr id="11" name="txt-roadmap-8"/>
          <p:cNvSpPr txBox="1"/>
          <p:nvPr/>
        </p:nvSpPr>
        <p:spPr>
          <a:xfrm>
            <a:off x="660400" y="5016500"/>
            <a:ext cx="3175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0" i="1" spc="-8">
                <a:solidFill>
                  <a:srgbClr val="1E6F5C"/>
                </a:solidFill>
                <a:latin typeface="IBM Plex Serif"/>
              </a:rPr>
              <a:t>Exit: the same capture gate passed on partner dynamics.</a:t>
            </a:r>
          </a:p>
        </p:txBody>
      </p:sp>
      <p:sp>
        <p:nvSpPr>
          <p:cNvPr id="12" name="txt-roadmap-9"/>
          <p:cNvSpPr txBox="1"/>
          <p:nvPr/>
        </p:nvSpPr>
        <p:spPr>
          <a:xfrm>
            <a:off x="4318000" y="2768600"/>
            <a:ext cx="3175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 i="0" spc="133">
                <a:solidFill>
                  <a:srgbClr val="1E6F5C"/>
                </a:solidFill>
                <a:latin typeface="IBM Plex Sans"/>
              </a:rPr>
              <a:t>PHASE 02</a:t>
            </a:r>
          </a:p>
        </p:txBody>
      </p:sp>
      <p:sp>
        <p:nvSpPr>
          <p:cNvPr id="13" name="txt-roadmap-10"/>
          <p:cNvSpPr txBox="1"/>
          <p:nvPr/>
        </p:nvSpPr>
        <p:spPr>
          <a:xfrm>
            <a:off x="4318000" y="3022600"/>
            <a:ext cx="3175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550" b="1" i="0" spc="-16">
                <a:solidFill>
                  <a:srgbClr val="1C241F"/>
                </a:solidFill>
                <a:latin typeface="IBM Plex Serif"/>
              </a:rPr>
              <a:t>Hardware in the loop</a:t>
            </a:r>
          </a:p>
        </p:txBody>
      </p:sp>
      <p:sp>
        <p:nvSpPr>
          <p:cNvPr id="14" name="txt-roadmap-11"/>
          <p:cNvSpPr txBox="1"/>
          <p:nvPr/>
        </p:nvSpPr>
        <p:spPr>
          <a:xfrm>
            <a:off x="4318000" y="3467100"/>
            <a:ext cx="3175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3D473E"/>
                </a:solidFill>
                <a:latin typeface="IBM Plex Sans"/>
              </a:rPr>
              <a:t>Real flight-computer timing, sensor models and injected comms latency — then verify that stale plans are discarded and recovery stays bounded.</a:t>
            </a:r>
          </a:p>
        </p:txBody>
      </p:sp>
      <p:sp>
        <p:nvSpPr>
          <p:cNvPr id="15" name="txt-roadmap-12"/>
          <p:cNvSpPr txBox="1"/>
          <p:nvPr/>
        </p:nvSpPr>
        <p:spPr>
          <a:xfrm>
            <a:off x="4318000" y="5016500"/>
            <a:ext cx="3175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0" i="1" spc="-8">
                <a:solidFill>
                  <a:srgbClr val="1E6F5C"/>
                </a:solidFill>
                <a:latin typeface="IBM Plex Serif"/>
              </a:rPr>
              <a:t>Exit: latency-bounded replanning demonstrated.</a:t>
            </a:r>
          </a:p>
        </p:txBody>
      </p:sp>
      <p:sp>
        <p:nvSpPr>
          <p:cNvPr id="16" name="txt-roadmap-13"/>
          <p:cNvSpPr txBox="1"/>
          <p:nvPr/>
        </p:nvSpPr>
        <p:spPr>
          <a:xfrm>
            <a:off x="8610600" y="2768600"/>
            <a:ext cx="3175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 i="0" spc="133">
                <a:solidFill>
                  <a:srgbClr val="1E6F5C"/>
                </a:solidFill>
                <a:latin typeface="IBM Plex Sans"/>
              </a:rPr>
              <a:t>PHASE 03</a:t>
            </a:r>
          </a:p>
        </p:txBody>
      </p:sp>
      <p:sp>
        <p:nvSpPr>
          <p:cNvPr id="17" name="txt-roadmap-14"/>
          <p:cNvSpPr txBox="1"/>
          <p:nvPr/>
        </p:nvSpPr>
        <p:spPr>
          <a:xfrm>
            <a:off x="8610600" y="3022600"/>
            <a:ext cx="3175000" cy="355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550" b="1" i="0" spc="-16">
                <a:solidFill>
                  <a:srgbClr val="1C241F"/>
                </a:solidFill>
                <a:latin typeface="IBM Plex Serif"/>
              </a:rPr>
              <a:t>Qualification pack</a:t>
            </a:r>
          </a:p>
        </p:txBody>
      </p:sp>
      <p:sp>
        <p:nvSpPr>
          <p:cNvPr id="18" name="txt-roadmap-15"/>
          <p:cNvSpPr txBox="1"/>
          <p:nvPr/>
        </p:nvSpPr>
        <p:spPr>
          <a:xfrm>
            <a:off x="8610600" y="3467100"/>
            <a:ext cx="3175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3D473E"/>
                </a:solidFill>
                <a:latin typeface="IBM Plex Sans"/>
              </a:rPr>
              <a:t>Traceability from requirement to scenario to telemetry to hash, with failure cases retained and a reviewer-runnable bundle.</a:t>
            </a:r>
          </a:p>
        </p:txBody>
      </p:sp>
      <p:sp>
        <p:nvSpPr>
          <p:cNvPr id="19" name="txt-roadmap-16"/>
          <p:cNvSpPr txBox="1"/>
          <p:nvPr/>
        </p:nvSpPr>
        <p:spPr>
          <a:xfrm>
            <a:off x="8610600" y="5016500"/>
            <a:ext cx="3175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0" i="1" spc="-8">
                <a:solidFill>
                  <a:srgbClr val="1E6F5C"/>
                </a:solidFill>
                <a:latin typeface="IBM Plex Serif"/>
              </a:rPr>
              <a:t>Exit: an independent reviewer reproduces a claim unaided.</a:t>
            </a:r>
          </a:p>
        </p:txBody>
      </p:sp>
      <p:sp>
        <p:nvSpPr>
          <p:cNvPr id="20" name="txt-roadmap-17"/>
          <p:cNvSpPr txBox="1"/>
          <p:nvPr/>
        </p:nvSpPr>
        <p:spPr>
          <a:xfrm>
            <a:off x="660400" y="5816600"/>
            <a:ext cx="10160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  <a:spcAft>
                <a:spcPts val="0"/>
              </a:spcAft>
            </a:pPr>
            <a:r>
              <a:rPr sz="1450" b="0" i="0" spc="-9">
                <a:solidFill>
                  <a:srgbClr val="3D473E"/>
                </a:solidFill>
                <a:latin typeface="IBM Plex Sans"/>
              </a:rPr>
              <a:t>What stays constant across all three phases: the gate that decides what counts as capture, the six tools the planner may call, and the evidence format a reviewer reads. The vehicle underneath them is yours.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rt-ask" descr="15-as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plate-ask-0"/>
          <p:cNvSpPr/>
          <p:nvPr/>
        </p:nvSpPr>
        <p:spPr>
          <a:xfrm>
            <a:off x="660400" y="2159000"/>
            <a:ext cx="5080000" cy="3302000"/>
          </a:xfrm>
          <a:prstGeom prst="roundRect">
            <a:avLst>
              <a:gd name="adj" fmla="val 4615"/>
            </a:avLst>
          </a:prstGeom>
          <a:solidFill>
            <a:srgbClr val="F3E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plate-ask-1"/>
          <p:cNvSpPr/>
          <p:nvPr/>
        </p:nvSpPr>
        <p:spPr>
          <a:xfrm>
            <a:off x="6451600" y="2159000"/>
            <a:ext cx="5080000" cy="3302000"/>
          </a:xfrm>
          <a:prstGeom prst="roundRect">
            <a:avLst>
              <a:gd name="adj" fmla="val 4615"/>
            </a:avLst>
          </a:prstGeom>
          <a:solidFill>
            <a:srgbClr val="1E6F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xt-ask-0"/>
          <p:cNvSpPr txBox="1"/>
          <p:nvPr/>
        </p:nvSpPr>
        <p:spPr>
          <a:xfrm>
            <a:off x="660400" y="482600"/>
            <a:ext cx="762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1" i="0" spc="150">
                <a:solidFill>
                  <a:srgbClr val="1E6F5C"/>
                </a:solidFill>
                <a:latin typeface="IBM Plex Sans"/>
              </a:rPr>
              <a:t>THE ASK</a:t>
            </a:r>
          </a:p>
        </p:txBody>
      </p:sp>
      <p:sp>
        <p:nvSpPr>
          <p:cNvPr id="6" name="txt-ask-1"/>
          <p:cNvSpPr txBox="1"/>
          <p:nvPr/>
        </p:nvSpPr>
        <p:spPr>
          <a:xfrm>
            <a:off x="6985000" y="482600"/>
            <a:ext cx="45466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850" b="0" i="0" spc="153">
                <a:solidFill>
                  <a:srgbClr val="6E7A6D"/>
                </a:solidFill>
                <a:latin typeface="IBM Plex Sans"/>
              </a:rPr>
              <a:t>DOCKING LAB · INVESTOR BRIEF</a:t>
            </a:r>
          </a:p>
        </p:txBody>
      </p:sp>
      <p:sp>
        <p:nvSpPr>
          <p:cNvPr id="7" name="txt-ask-2"/>
          <p:cNvSpPr txBox="1"/>
          <p:nvPr/>
        </p:nvSpPr>
        <p:spPr>
          <a:xfrm>
            <a:off x="660400" y="6375400"/>
            <a:ext cx="952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50" b="0" i="0" spc="17">
                <a:solidFill>
                  <a:srgbClr val="6E7A6D"/>
                </a:solidFill>
                <a:latin typeface="IBM Plex Sans"/>
              </a:rPr>
              <a:t>pilot scope · draft for partner discussion</a:t>
            </a:r>
          </a:p>
        </p:txBody>
      </p:sp>
      <p:sp>
        <p:nvSpPr>
          <p:cNvPr id="8" name="txt-ask-3"/>
          <p:cNvSpPr txBox="1"/>
          <p:nvPr/>
        </p:nvSpPr>
        <p:spPr>
          <a:xfrm>
            <a:off x="9626600" y="6337300"/>
            <a:ext cx="1905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850" b="0" i="0" spc="153">
                <a:solidFill>
                  <a:srgbClr val="6E7A6D"/>
                </a:solidFill>
                <a:latin typeface="IBM Plex Sans"/>
              </a:rPr>
              <a:t>15</a:t>
            </a:r>
          </a:p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850" b="0" i="0" spc="153">
                <a:solidFill>
                  <a:srgbClr val="6E7A6D"/>
                </a:solidFill>
                <a:latin typeface="IBM Plex Sans"/>
              </a:rPr>
              <a:t>  /  16</a:t>
            </a:r>
          </a:p>
        </p:txBody>
      </p:sp>
      <p:sp>
        <p:nvSpPr>
          <p:cNvPr id="9" name="txt-ask-4"/>
          <p:cNvSpPr txBox="1"/>
          <p:nvPr/>
        </p:nvSpPr>
        <p:spPr>
          <a:xfrm>
            <a:off x="660400" y="1358900"/>
            <a:ext cx="10160000" cy="698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4200" b="0" i="0" spc="-76">
                <a:solidFill>
                  <a:srgbClr val="1C241F"/>
                </a:solidFill>
                <a:latin typeface="IBM Plex Serif"/>
              </a:rPr>
              <a:t>One vehicle model. One mission profile.</a:t>
            </a:r>
          </a:p>
        </p:txBody>
      </p:sp>
      <p:sp>
        <p:nvSpPr>
          <p:cNvPr id="10" name="txt-ask-5"/>
          <p:cNvSpPr txBox="1"/>
          <p:nvPr/>
        </p:nvSpPr>
        <p:spPr>
          <a:xfrm>
            <a:off x="889000" y="2362200"/>
            <a:ext cx="381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 i="0" spc="133">
                <a:solidFill>
                  <a:srgbClr val="1E6F5C"/>
                </a:solidFill>
                <a:latin typeface="IBM Plex Sans"/>
              </a:rPr>
              <a:t>A PILOT NEEDS FROM YOU</a:t>
            </a:r>
          </a:p>
        </p:txBody>
      </p:sp>
      <p:sp>
        <p:nvSpPr>
          <p:cNvPr id="11" name="txt-ask-6"/>
          <p:cNvSpPr txBox="1"/>
          <p:nvPr/>
        </p:nvSpPr>
        <p:spPr>
          <a:xfrm>
            <a:off x="889000" y="2692400"/>
            <a:ext cx="46355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550" b="1" i="0" spc="-16">
                <a:solidFill>
                  <a:srgbClr val="1C241F"/>
                </a:solidFill>
                <a:latin typeface="IBM Plex Serif"/>
              </a:rPr>
              <a:t>A reference vehicle</a:t>
            </a:r>
          </a:p>
        </p:txBody>
      </p:sp>
      <p:sp>
        <p:nvSpPr>
          <p:cNvPr id="12" name="txt-ask-7"/>
          <p:cNvSpPr txBox="1"/>
          <p:nvPr/>
        </p:nvSpPr>
        <p:spPr>
          <a:xfrm>
            <a:off x="889000" y="3009900"/>
            <a:ext cx="46355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3D473E"/>
                </a:solidFill>
                <a:latin typeface="IBM Plex Sans"/>
              </a:rPr>
              <a:t>Mass properties, thruster limits, port geometry, capture tolerances.</a:t>
            </a:r>
          </a:p>
        </p:txBody>
      </p:sp>
      <p:sp>
        <p:nvSpPr>
          <p:cNvPr id="13" name="txt-ask-8"/>
          <p:cNvSpPr txBox="1"/>
          <p:nvPr/>
        </p:nvSpPr>
        <p:spPr>
          <a:xfrm>
            <a:off x="889000" y="3530600"/>
            <a:ext cx="46355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550" b="1" i="0" spc="-16">
                <a:solidFill>
                  <a:srgbClr val="1C241F"/>
                </a:solidFill>
                <a:latin typeface="IBM Plex Serif"/>
              </a:rPr>
              <a:t>A mission profile</a:t>
            </a:r>
          </a:p>
        </p:txBody>
      </p:sp>
      <p:sp>
        <p:nvSpPr>
          <p:cNvPr id="14" name="txt-ask-9"/>
          <p:cNvSpPr txBox="1"/>
          <p:nvPr/>
        </p:nvSpPr>
        <p:spPr>
          <a:xfrm>
            <a:off x="889000" y="3848100"/>
            <a:ext cx="46355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3D473E"/>
                </a:solidFill>
                <a:latin typeface="IBM Plex Sans"/>
              </a:rPr>
              <a:t>The scenario you would actually fly, and the failure cases you care about.</a:t>
            </a:r>
          </a:p>
        </p:txBody>
      </p:sp>
      <p:sp>
        <p:nvSpPr>
          <p:cNvPr id="15" name="txt-ask-10"/>
          <p:cNvSpPr txBox="1"/>
          <p:nvPr/>
        </p:nvSpPr>
        <p:spPr>
          <a:xfrm>
            <a:off x="889000" y="4368800"/>
            <a:ext cx="46355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550" b="1" i="0" spc="-16">
                <a:solidFill>
                  <a:srgbClr val="1C241F"/>
                </a:solidFill>
                <a:latin typeface="IBM Plex Serif"/>
              </a:rPr>
              <a:t>An evaluation owner</a:t>
            </a:r>
          </a:p>
        </p:txBody>
      </p:sp>
      <p:sp>
        <p:nvSpPr>
          <p:cNvPr id="16" name="txt-ask-11"/>
          <p:cNvSpPr txBox="1"/>
          <p:nvPr/>
        </p:nvSpPr>
        <p:spPr>
          <a:xfrm>
            <a:off x="889000" y="4686300"/>
            <a:ext cx="4635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3D473E"/>
                </a:solidFill>
                <a:latin typeface="IBM Plex Sans"/>
              </a:rPr>
              <a:t>Someone who will tell us the run is wrong and why. That is the fastest route to a defensible result.</a:t>
            </a:r>
          </a:p>
        </p:txBody>
      </p:sp>
      <p:sp>
        <p:nvSpPr>
          <p:cNvPr id="17" name="txt-ask-12"/>
          <p:cNvSpPr txBox="1"/>
          <p:nvPr/>
        </p:nvSpPr>
        <p:spPr>
          <a:xfrm>
            <a:off x="6680200" y="2362200"/>
            <a:ext cx="381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 i="0" spc="133">
                <a:solidFill>
                  <a:srgbClr val="F4F1E8"/>
                </a:solidFill>
                <a:latin typeface="IBM Plex Sans"/>
              </a:rPr>
              <a:t>YOU GET BACK</a:t>
            </a:r>
          </a:p>
        </p:txBody>
      </p:sp>
      <p:sp>
        <p:nvSpPr>
          <p:cNvPr id="18" name="txt-ask-13"/>
          <p:cNvSpPr txBox="1"/>
          <p:nvPr/>
        </p:nvSpPr>
        <p:spPr>
          <a:xfrm>
            <a:off x="6680200" y="2692400"/>
            <a:ext cx="46355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550" b="1" i="0" spc="-16">
                <a:solidFill>
                  <a:srgbClr val="F4F1E8"/>
                </a:solidFill>
                <a:latin typeface="IBM Plex Serif"/>
              </a:rPr>
              <a:t>Your scenarios, re-run</a:t>
            </a:r>
          </a:p>
        </p:txBody>
      </p:sp>
      <p:sp>
        <p:nvSpPr>
          <p:cNvPr id="19" name="txt-ask-14"/>
          <p:cNvSpPr txBox="1"/>
          <p:nvPr/>
        </p:nvSpPr>
        <p:spPr>
          <a:xfrm>
            <a:off x="6680200" y="3009900"/>
            <a:ext cx="46355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9DB0AB"/>
                </a:solidFill>
                <a:latin typeface="IBM Plex Sans"/>
              </a:rPr>
              <a:t>The reference captures on your dynamics, with the same gate, the same tools, the same telemetry.</a:t>
            </a:r>
          </a:p>
        </p:txBody>
      </p:sp>
      <p:sp>
        <p:nvSpPr>
          <p:cNvPr id="20" name="txt-ask-15"/>
          <p:cNvSpPr txBox="1"/>
          <p:nvPr/>
        </p:nvSpPr>
        <p:spPr>
          <a:xfrm>
            <a:off x="6680200" y="3530600"/>
            <a:ext cx="46355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550" b="1" i="0" spc="-16">
                <a:solidFill>
                  <a:srgbClr val="F4F1E8"/>
                </a:solidFill>
                <a:latin typeface="IBM Plex Serif"/>
              </a:rPr>
              <a:t>A paired comparison</a:t>
            </a:r>
          </a:p>
        </p:txBody>
      </p:sp>
      <p:sp>
        <p:nvSpPr>
          <p:cNvPr id="21" name="txt-ask-16"/>
          <p:cNvSpPr txBox="1"/>
          <p:nvPr/>
        </p:nvSpPr>
        <p:spPr>
          <a:xfrm>
            <a:off x="6680200" y="3848100"/>
            <a:ext cx="4635500" cy="44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9DB0AB"/>
                </a:solidFill>
                <a:latin typeface="IBM Plex Sans"/>
              </a:rPr>
              <a:t>Your controller against the current stack on identical seeds, reported with intervals.</a:t>
            </a:r>
          </a:p>
        </p:txBody>
      </p:sp>
      <p:sp>
        <p:nvSpPr>
          <p:cNvPr id="22" name="txt-ask-17"/>
          <p:cNvSpPr txBox="1"/>
          <p:nvPr/>
        </p:nvSpPr>
        <p:spPr>
          <a:xfrm>
            <a:off x="6680200" y="4368800"/>
            <a:ext cx="4635500" cy="27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1550" b="1" i="0" spc="-16">
                <a:solidFill>
                  <a:srgbClr val="F4F1E8"/>
                </a:solidFill>
                <a:latin typeface="IBM Plex Serif"/>
              </a:rPr>
              <a:t>An evidence bundle</a:t>
            </a:r>
          </a:p>
        </p:txBody>
      </p:sp>
      <p:sp>
        <p:nvSpPr>
          <p:cNvPr id="23" name="txt-ask-18"/>
          <p:cNvSpPr txBox="1"/>
          <p:nvPr/>
        </p:nvSpPr>
        <p:spPr>
          <a:xfrm>
            <a:off x="6680200" y="4686300"/>
            <a:ext cx="46355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1050" b="0" i="0">
                <a:solidFill>
                  <a:srgbClr val="9DB0AB"/>
                </a:solidFill>
                <a:latin typeface="IBM Plex Sans"/>
              </a:rPr>
              <a:t>Decisions, tool readings, telemetry and hashes — including the runs that did not work.</a:t>
            </a:r>
          </a:p>
        </p:txBody>
      </p:sp>
      <p:sp>
        <p:nvSpPr>
          <p:cNvPr id="24" name="txt-ask-19"/>
          <p:cNvSpPr txBox="1"/>
          <p:nvPr/>
        </p:nvSpPr>
        <p:spPr>
          <a:xfrm>
            <a:off x="660400" y="5753100"/>
            <a:ext cx="1016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8000"/>
              </a:lnSpc>
              <a:spcAft>
                <a:spcPts val="0"/>
              </a:spcAft>
            </a:pPr>
            <a:r>
              <a:rPr sz="1450" b="0" i="0" spc="-9">
                <a:solidFill>
                  <a:srgbClr val="3D473E"/>
                </a:solidFill>
                <a:latin typeface="IBM Plex Sans"/>
              </a:rPr>
              <a:t>Everything in this deck is reproducible from the files in proofs/ — including the failures.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art-close" descr="16-clos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xt-close-0"/>
          <p:cNvSpPr txBox="1"/>
          <p:nvPr/>
        </p:nvSpPr>
        <p:spPr>
          <a:xfrm>
            <a:off x="660400" y="482600"/>
            <a:ext cx="7620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1" i="0" spc="150">
                <a:solidFill>
                  <a:srgbClr val="8FD9C4"/>
                </a:solidFill>
                <a:latin typeface="IBM Plex Sans"/>
              </a:rPr>
              <a:t>DOCKING LAB</a:t>
            </a:r>
          </a:p>
        </p:txBody>
      </p:sp>
      <p:sp>
        <p:nvSpPr>
          <p:cNvPr id="4" name="txt-close-1"/>
          <p:cNvSpPr txBox="1"/>
          <p:nvPr/>
        </p:nvSpPr>
        <p:spPr>
          <a:xfrm>
            <a:off x="6985000" y="482600"/>
            <a:ext cx="45466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850" b="0" i="0" spc="153">
                <a:solidFill>
                  <a:srgbClr val="9DB0AB"/>
                </a:solidFill>
                <a:latin typeface="IBM Plex Sans"/>
              </a:rPr>
              <a:t>DOCKING LAB · INVESTOR BRIEF</a:t>
            </a:r>
          </a:p>
        </p:txBody>
      </p:sp>
      <p:sp>
        <p:nvSpPr>
          <p:cNvPr id="5" name="txt-close-2"/>
          <p:cNvSpPr txBox="1"/>
          <p:nvPr/>
        </p:nvSpPr>
        <p:spPr>
          <a:xfrm>
            <a:off x="9626600" y="6337300"/>
            <a:ext cx="1905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850" b="0" i="0" spc="153">
                <a:solidFill>
                  <a:srgbClr val="9DB0AB"/>
                </a:solidFill>
                <a:latin typeface="IBM Plex Sans"/>
              </a:rPr>
              <a:t>16</a:t>
            </a:r>
          </a:p>
          <a:p>
            <a:pPr algn="r">
              <a:lnSpc>
                <a:spcPct val="120000"/>
              </a:lnSpc>
              <a:spcAft>
                <a:spcPts val="0"/>
              </a:spcAft>
            </a:pPr>
            <a:r>
              <a:rPr sz="850" b="0" i="0" spc="153">
                <a:solidFill>
                  <a:srgbClr val="9DB0AB"/>
                </a:solidFill>
                <a:latin typeface="IBM Plex Sans"/>
              </a:rPr>
              <a:t>  /  16</a:t>
            </a:r>
          </a:p>
        </p:txBody>
      </p:sp>
      <p:sp>
        <p:nvSpPr>
          <p:cNvPr id="6" name="txt-close-3"/>
          <p:cNvSpPr txBox="1"/>
          <p:nvPr/>
        </p:nvSpPr>
        <p:spPr>
          <a:xfrm>
            <a:off x="660400" y="2667000"/>
            <a:ext cx="57150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4800" b="0" i="0" spc="-106">
                <a:solidFill>
                  <a:srgbClr val="F4F1E8"/>
                </a:solidFill>
                <a:latin typeface="IBM Plex Serif"/>
              </a:rPr>
              <a:t>Point it at</a:t>
            </a:r>
          </a:p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4800" b="0" i="0" spc="-106">
                <a:solidFill>
                  <a:srgbClr val="F4F1E8"/>
                </a:solidFill>
                <a:latin typeface="IBM Plex Serif"/>
              </a:rPr>
              <a:t>your vehicle.</a:t>
            </a:r>
          </a:p>
        </p:txBody>
      </p:sp>
      <p:sp>
        <p:nvSpPr>
          <p:cNvPr id="7" name="txt-close-4"/>
          <p:cNvSpPr txBox="1"/>
          <p:nvPr/>
        </p:nvSpPr>
        <p:spPr>
          <a:xfrm>
            <a:off x="660400" y="4191000"/>
            <a:ext cx="5461000" cy="889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600" b="0" i="1" spc="-8">
                <a:solidFill>
                  <a:srgbClr val="9DB0AB"/>
                </a:solidFill>
                <a:latin typeface="IBM Plex Serif"/>
              </a:rPr>
              <a:t>The loop already runs end to end: planner, advisor, executor, safety channel, dashboard and evidence bundle.</a:t>
            </a:r>
          </a:p>
        </p:txBody>
      </p:sp>
      <p:sp>
        <p:nvSpPr>
          <p:cNvPr id="8" name="txt-close-5"/>
          <p:cNvSpPr txBox="1"/>
          <p:nvPr/>
        </p:nvSpPr>
        <p:spPr>
          <a:xfrm>
            <a:off x="660400" y="52578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 i="0" spc="133">
                <a:solidFill>
                  <a:srgbClr val="8FD9C4"/>
                </a:solidFill>
                <a:latin typeface="IBM Plex Sans"/>
              </a:rPr>
              <a:t>WATCH THE RUN</a:t>
            </a:r>
          </a:p>
        </p:txBody>
      </p:sp>
      <p:sp>
        <p:nvSpPr>
          <p:cNvPr id="9" name="txt-close-6"/>
          <p:cNvSpPr txBox="1"/>
          <p:nvPr/>
        </p:nvSpPr>
        <p:spPr>
          <a:xfrm>
            <a:off x="660400" y="5473700"/>
            <a:ext cx="5461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50" b="0" i="0">
                <a:solidFill>
                  <a:srgbClr val="9DB0AB"/>
                </a:solidFill>
                <a:latin typeface="IBM Plex Mono"/>
              </a:rPr>
              <a:t>loom.com/share/fc396b5ea4f344659464c48dba367314</a:t>
            </a:r>
          </a:p>
        </p:txBody>
      </p:sp>
      <p:sp>
        <p:nvSpPr>
          <p:cNvPr id="10" name="txt-close-7"/>
          <p:cNvSpPr txBox="1"/>
          <p:nvPr/>
        </p:nvSpPr>
        <p:spPr>
          <a:xfrm>
            <a:off x="660400" y="5829300"/>
            <a:ext cx="190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950" b="1" i="0" spc="133">
                <a:solidFill>
                  <a:srgbClr val="8FD9C4"/>
                </a:solidFill>
                <a:latin typeface="IBM Plex Sans"/>
              </a:rPr>
              <a:t>OPEN THE EVIDENCE</a:t>
            </a:r>
          </a:p>
        </p:txBody>
      </p:sp>
      <p:sp>
        <p:nvSpPr>
          <p:cNvPr id="11" name="txt-close-8"/>
          <p:cNvSpPr txBox="1"/>
          <p:nvPr/>
        </p:nvSpPr>
        <p:spPr>
          <a:xfrm>
            <a:off x="660400" y="6045200"/>
            <a:ext cx="5715000" cy="215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0"/>
              </a:spcAft>
            </a:pPr>
            <a:r>
              <a:rPr sz="850" b="0" i="0">
                <a:solidFill>
                  <a:srgbClr val="9DB0AB"/>
                </a:solidFill>
                <a:latin typeface="IBM Plex Mono"/>
              </a:rPr>
              <a:t>proofs/ · dashboard at 127.0.0.1:8000 · API docs at /docs</a:t>
            </a:r>
          </a:p>
        </p:txBody>
      </p:sp>
      <p:sp>
        <p:nvSpPr>
          <p:cNvPr id="12" name="txt-close-9"/>
          <p:cNvSpPr txBox="1"/>
          <p:nvPr/>
        </p:nvSpPr>
        <p:spPr>
          <a:xfrm>
            <a:off x="660400" y="6362700"/>
            <a:ext cx="5715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850" b="0" i="0" spc="17">
                <a:solidFill>
                  <a:srgbClr val="9DB0AB"/>
                </a:solidFill>
                <a:latin typeface="IBM Plex Sans"/>
              </a:rPr>
              <a:t>Contact: [ name · email ] — replace before sending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